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CC6B8"/>
              </a:solidFill>
              <a:ln w="25400">
                <a:solidFill>
                  <a:srgbClr val="2F343B"/>
                </a:solidFill>
              </a:ln>
            </c:spPr>
          </c:dPt>
          <c:dPt>
            <c:idx val="1"/>
            <c:spPr>
              <a:solidFill>
                <a:srgbClr val="7FD9CF"/>
              </a:solidFill>
              <a:ln w="25400">
                <a:solidFill>
                  <a:srgbClr val="2F343B"/>
                </a:solidFill>
              </a:ln>
            </c:spPr>
          </c:dPt>
          <c:dPt>
            <c:idx val="2"/>
            <c:spPr>
              <a:solidFill>
                <a:srgbClr val="6B737D"/>
              </a:solidFill>
              <a:ln w="25400">
                <a:solidFill>
                  <a:srgbClr val="2F343B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18–29</c:v>
                </c:pt>
                <c:pt idx="1">
                  <c:v>30–41</c:v>
                </c:pt>
                <c:pt idx="2">
                  <c:v>41+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1556</c:v>
                </c:pt>
                <c:pt idx="1">
                  <c:v>932</c:v>
                </c:pt>
                <c:pt idx="2">
                  <c:v>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Режа</c:v>
                </c:pt>
              </c:strCache>
            </c:strRef>
          </c:tx>
          <c:spPr>
            <a:solidFill>
              <a:srgbClr val="58616B"/>
            </a:solidFill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</c:v>
                </c:pt>
                <c:pt idx="1">
                  <c:v>130</c:v>
                </c:pt>
                <c:pt idx="2">
                  <c:v>119</c:v>
                </c:pt>
                <c:pt idx="3">
                  <c:v>120</c:v>
                </c:pt>
                <c:pt idx="4">
                  <c:v>87</c:v>
                </c:pt>
                <c:pt idx="5">
                  <c:v>11</c:v>
                </c:pt>
                <c:pt idx="6">
                  <c:v>84</c:v>
                </c:pt>
                <c:pt idx="7">
                  <c:v>80</c:v>
                </c:pt>
                <c:pt idx="8">
                  <c:v>34</c:v>
                </c:pt>
                <c:pt idx="9">
                  <c:v>73</c:v>
                </c:pt>
                <c:pt idx="10">
                  <c:v>4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Бажарилди</c:v>
                </c:pt>
              </c:strCache>
            </c:strRef>
          </c:tx>
          <c:spPr>
            <a:solidFill>
              <a:srgbClr val="3CC6B8"/>
            </a:solidFill>
          </c:spPr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114</c:v>
                </c:pt>
                <c:pt idx="1">
                  <c:v>103</c:v>
                </c:pt>
                <c:pt idx="2">
                  <c:v>91</c:v>
                </c:pt>
                <c:pt idx="3">
                  <c:v>89</c:v>
                </c:pt>
                <c:pt idx="4">
                  <c:v>54</c:v>
                </c:pt>
                <c:pt idx="5">
                  <c:v>0</c:v>
                </c:pt>
                <c:pt idx="6">
                  <c:v>77</c:v>
                </c:pt>
                <c:pt idx="7">
                  <c:v>77</c:v>
                </c:pt>
                <c:pt idx="8">
                  <c:v>31</c:v>
                </c:pt>
                <c:pt idx="9">
                  <c:v>49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solidFill>
                <a:srgbClr val="9AA2A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3CC6B8"/>
            </a:solidFill>
          </c:spPr>
          <c:cat>
            <c:strRef>
              <c:f>Sheet1!$A$2:$A$9</c:f>
              <c:strCache>
                <c:ptCount val="8"/>
                <c:pt idx="0">
                  <c:v>Захира</c:v>
                </c:pt>
                <c:pt idx="1">
                  <c:v>Сифат назорати</c:v>
                </c:pt>
                <c:pt idx="2">
                  <c:v>CKD йиғув цехи</c:v>
                </c:pt>
                <c:pt idx="3">
                  <c:v>SKD йиғув цехи</c:v>
                </c:pt>
                <c:pt idx="4">
                  <c:v>Техник хизмат</c:v>
                </c:pt>
                <c:pt idx="5">
                  <c:v>Таъминот тизими</c:v>
                </c:pt>
                <c:pt idx="6">
                  <c:v>Бошқа бўлимлар</c:v>
                </c:pt>
                <c:pt idx="7">
                  <c:v>Пайвандлаш цехи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47</c:v>
                </c:pt>
                <c:pt idx="2">
                  <c:v>47</c:v>
                </c:pt>
                <c:pt idx="3">
                  <c:v>50</c:v>
                </c:pt>
                <c:pt idx="4">
                  <c:v>87</c:v>
                </c:pt>
                <c:pt idx="5">
                  <c:v>87</c:v>
                </c:pt>
                <c:pt idx="6">
                  <c:v>189</c:v>
                </c:pt>
                <c:pt idx="7">
                  <c:v>320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8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1"/>
            <c:spPr>
              <a:solidFill>
                <a:srgbClr val="3CC6B8"/>
              </a:solidFill>
            </c:spPr>
          </c:dPt>
          <c:cat>
            <c:strRef>
              <c:f>Sheet1!$A$2:$A$4</c:f>
              <c:strCache>
                <c:ptCount val="3"/>
                <c:pt idx="0">
                  <c:v>Бошланғич ҳафта</c:v>
                </c:pt>
                <c:pt idx="1">
                  <c:v>1 ойлик кузатув</c:v>
                </c:pt>
                <c:pt idx="2">
                  <c:v>2 ойлик кузатув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51</c:v>
                </c:pt>
                <c:pt idx="2">
                  <c:v>37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9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7"/>
            <c:spPr>
              <a:solidFill>
                <a:srgbClr val="3CC6B8"/>
              </a:solidFill>
            </c:spPr>
          </c:dPt>
          <c:cat>
            <c:strRef>
              <c:f>Sheet1!$A$2:$A$9</c:f>
              <c:strCache>
                <c:ptCount val="8"/>
                <c:pt idx="0">
                  <c:v>Бўёқчи</c:v>
                </c:pt>
                <c:pt idx="1">
                  <c:v>Сифат инспектори</c:v>
                </c:pt>
                <c:pt idx="2">
                  <c:v>Бутловчи</c:v>
                </c:pt>
                <c:pt idx="3">
                  <c:v>Инспектор</c:v>
                </c:pt>
                <c:pt idx="4">
                  <c:v>Амалиётчи</c:v>
                </c:pt>
                <c:pt idx="5">
                  <c:v>Мех. йиғув чилангари</c:v>
                </c:pt>
                <c:pt idx="6">
                  <c:v>SKD Чилангар</c:v>
                </c:pt>
                <c:pt idx="7">
                  <c:v>Пайвандчи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12</c:v>
                </c:pt>
                <c:pt idx="2">
                  <c:v>14</c:v>
                </c:pt>
                <c:pt idx="3">
                  <c:v>15</c:v>
                </c:pt>
                <c:pt idx="4">
                  <c:v>15</c:v>
                </c:pt>
                <c:pt idx="5">
                  <c:v>31</c:v>
                </c:pt>
                <c:pt idx="6">
                  <c:v>63</c:v>
                </c:pt>
                <c:pt idx="7">
                  <c:v>106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5"/>
            <c:spPr>
              <a:solidFill>
                <a:srgbClr val="3CC6B8"/>
              </a:solidFill>
            </c:spPr>
          </c:dPt>
          <c:cat>
            <c:strRef>
              <c:f>Sheet1!$A$2:$A$7</c:f>
              <c:strCache>
                <c:ptCount val="6"/>
                <c:pt idx="0">
                  <c:v>Асака т.</c:v>
                </c:pt>
                <c:pt idx="1">
                  <c:v>Шаҳрихон т.</c:v>
                </c:pt>
                <c:pt idx="2">
                  <c:v>Пахтакор т.</c:v>
                </c:pt>
                <c:pt idx="3">
                  <c:v>Ғаллаорол т.</c:v>
                </c:pt>
                <c:pt idx="4">
                  <c:v>Жиззах ш.</c:v>
                </c:pt>
                <c:pt idx="5">
                  <c:v>Ш. Рашидов т.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9</c:v>
                </c:pt>
                <c:pt idx="2">
                  <c:v>26</c:v>
                </c:pt>
                <c:pt idx="3">
                  <c:v>33</c:v>
                </c:pt>
                <c:pt idx="4">
                  <c:v>62</c:v>
                </c:pt>
                <c:pt idx="5">
                  <c:v>140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3"/>
            <c:spPr>
              <a:solidFill>
                <a:srgbClr val="3CC6B8"/>
              </a:solidFill>
            </c:spPr>
          </c:dPt>
          <c:cat>
            <c:strRef>
              <c:f>Sheet1!$A$2:$A$5</c:f>
              <c:strCache>
                <c:ptCount val="4"/>
                <c:pt idx="0">
                  <c:v>Соғлиқ</c:v>
                </c:pt>
                <c:pt idx="1">
                  <c:v>Ишга келмаган</c:v>
                </c:pt>
                <c:pt idx="2">
                  <c:v>Бошқа иш топган</c:v>
                </c:pt>
                <c:pt idx="3">
                  <c:v>Ойлик етишмаслиги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5"/>
            <c:spPr>
              <a:solidFill>
                <a:srgbClr val="3CC6B8"/>
              </a:solidFill>
            </c:spPr>
          </c:dPt>
          <c:cat>
            <c:strRef>
              <c:f>Sheet1!$A$2:$A$17</c:f>
              <c:strCache>
                <c:ptCount val="16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25</c:v>
                </c:pt>
                <c:pt idx="7">
                  <c:v>26</c:v>
                </c:pt>
                <c:pt idx="8">
                  <c:v>27</c:v>
                </c:pt>
                <c:pt idx="9">
                  <c:v>29</c:v>
                </c:pt>
                <c:pt idx="10">
                  <c:v>30</c:v>
                </c:pt>
                <c:pt idx="11">
                  <c:v>31</c:v>
                </c:pt>
                <c:pt idx="12">
                  <c:v>32</c:v>
                </c:pt>
                <c:pt idx="13">
                  <c:v>34</c:v>
                </c:pt>
                <c:pt idx="14">
                  <c:v>44</c:v>
                </c:pt>
                <c:pt idx="15">
                  <c:v>54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25</c:v>
                </c:pt>
                <c:pt idx="2">
                  <c:v>43</c:v>
                </c:pt>
                <c:pt idx="3">
                  <c:v>49</c:v>
                </c:pt>
                <c:pt idx="4">
                  <c:v>56</c:v>
                </c:pt>
                <c:pt idx="5">
                  <c:v>61</c:v>
                </c:pt>
                <c:pt idx="6">
                  <c:v>60</c:v>
                </c:pt>
                <c:pt idx="7">
                  <c:v>47</c:v>
                </c:pt>
                <c:pt idx="8">
                  <c:v>37</c:v>
                </c:pt>
                <c:pt idx="9">
                  <c:v>33</c:v>
                </c:pt>
                <c:pt idx="10">
                  <c:v>26</c:v>
                </c:pt>
                <c:pt idx="11">
                  <c:v>13</c:v>
                </c:pt>
                <c:pt idx="12">
                  <c:v>21</c:v>
                </c:pt>
                <c:pt idx="13">
                  <c:v>10</c:v>
                </c:pt>
                <c:pt idx="14">
                  <c:v>1</c:v>
                </c:pt>
                <c:pt idx="15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6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6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0"/>
            <c:spPr>
              <a:solidFill>
                <a:srgbClr val="3CC6B8"/>
              </a:solidFill>
            </c:spPr>
          </c:dPt>
          <c:cat>
            <c:strRef>
              <c:f>Sheet1!$A$2:$A$14</c:f>
              <c:strCach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33</c:v>
                </c:pt>
                <c:pt idx="1">
                  <c:v>27</c:v>
                </c:pt>
                <c:pt idx="2">
                  <c:v>26</c:v>
                </c:pt>
                <c:pt idx="3">
                  <c:v>28</c:v>
                </c:pt>
                <c:pt idx="4">
                  <c:v>28</c:v>
                </c:pt>
                <c:pt idx="5">
                  <c:v>26</c:v>
                </c:pt>
                <c:pt idx="6">
                  <c:v>17</c:v>
                </c:pt>
                <c:pt idx="7">
                  <c:v>19</c:v>
                </c:pt>
                <c:pt idx="8">
                  <c:v>13</c:v>
                </c:pt>
                <c:pt idx="9">
                  <c:v>21</c:v>
                </c:pt>
                <c:pt idx="10">
                  <c:v>19</c:v>
                </c:pt>
                <c:pt idx="11">
                  <c:v>12</c:v>
                </c:pt>
                <c:pt idx="12">
                  <c:v>13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6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6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6"/>
            <c:spPr>
              <a:solidFill>
                <a:srgbClr val="3CC6B8"/>
              </a:solidFill>
            </c:spPr>
          </c:dPt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16</c:v>
                </c:pt>
                <c:pt idx="2">
                  <c:v>11</c:v>
                </c:pt>
                <c:pt idx="3">
                  <c:v>9</c:v>
                </c:pt>
                <c:pt idx="4">
                  <c:v>1</c:v>
                </c:pt>
                <c:pt idx="5">
                  <c:v>3</c:v>
                </c:pt>
                <c:pt idx="6">
                  <c:v>23</c:v>
                </c:pt>
                <c:pt idx="7">
                  <c:v>11</c:v>
                </c:pt>
                <c:pt idx="8">
                  <c:v>21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6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6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5"/>
            <c:spPr>
              <a:solidFill>
                <a:srgbClr val="3CC6B8"/>
              </a:solidFill>
            </c:spPr>
          </c:dPt>
          <c:dPt>
            <c:idx val="6"/>
            <c:spPr>
              <a:solidFill>
                <a:srgbClr val="3CC6B8"/>
              </a:solidFill>
            </c:spPr>
          </c:dPt>
          <c:cat>
            <c:strRef>
              <c:f>Sheet1!$A$2:$A$21</c:f>
              <c:strCache>
                <c:ptCount val="20"/>
                <c:pt idx="0">
                  <c:v>E-1</c:v>
                </c:pt>
                <c:pt idx="1">
                  <c:v>E-2</c:v>
                </c:pt>
                <c:pt idx="2">
                  <c:v>E-3</c:v>
                </c:pt>
                <c:pt idx="3">
                  <c:v>E-4</c:v>
                </c:pt>
                <c:pt idx="4">
                  <c:v>I-1</c:v>
                </c:pt>
                <c:pt idx="5">
                  <c:v>I-2</c:v>
                </c:pt>
                <c:pt idx="6">
                  <c:v>I-3</c:v>
                </c:pt>
                <c:pt idx="7">
                  <c:v>I-4</c:v>
                </c:pt>
                <c:pt idx="8">
                  <c:v>I-5</c:v>
                </c:pt>
                <c:pt idx="9">
                  <c:v>I-6</c:v>
                </c:pt>
                <c:pt idx="10">
                  <c:v>IA-1</c:v>
                </c:pt>
                <c:pt idx="11">
                  <c:v>IA-2</c:v>
                </c:pt>
                <c:pt idx="12">
                  <c:v>IM-2</c:v>
                </c:pt>
                <c:pt idx="13">
                  <c:v>IM-3</c:v>
                </c:pt>
                <c:pt idx="14">
                  <c:v>IM-4</c:v>
                </c:pt>
                <c:pt idx="15">
                  <c:v>S1</c:v>
                </c:pt>
                <c:pt idx="16">
                  <c:v>S-1</c:v>
                </c:pt>
                <c:pt idx="17">
                  <c:v>S-2</c:v>
                </c:pt>
                <c:pt idx="18">
                  <c:v>S-3</c:v>
                </c:pt>
                <c:pt idx="19">
                  <c:v>S-4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6</c:v>
                </c:pt>
                <c:pt idx="4">
                  <c:v>3</c:v>
                </c:pt>
                <c:pt idx="5">
                  <c:v>185</c:v>
                </c:pt>
                <c:pt idx="6">
                  <c:v>126</c:v>
                </c:pt>
                <c:pt idx="7">
                  <c:v>35</c:v>
                </c:pt>
                <c:pt idx="8">
                  <c:v>43</c:v>
                </c:pt>
                <c:pt idx="9">
                  <c:v>6</c:v>
                </c:pt>
                <c:pt idx="10">
                  <c:v>15</c:v>
                </c:pt>
                <c:pt idx="11">
                  <c:v>10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12</c:v>
                </c:pt>
                <c:pt idx="17">
                  <c:v>13</c:v>
                </c:pt>
                <c:pt idx="18">
                  <c:v>7</c:v>
                </c:pt>
                <c:pt idx="19">
                  <c:v>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5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6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8"/>
            <c:spPr>
              <a:solidFill>
                <a:srgbClr val="3CC6B8"/>
              </a:solidFill>
            </c:spPr>
          </c:dPt>
          <c:dPt>
            <c:idx val="7"/>
            <c:spPr>
              <a:solidFill>
                <a:srgbClr val="3CC6B8"/>
              </a:solidFill>
            </c:spPr>
          </c:dPt>
          <c:dPt>
            <c:idx val="6"/>
            <c:spPr>
              <a:solidFill>
                <a:srgbClr val="3CC6B8"/>
              </a:solidFill>
            </c:spPr>
          </c:dPt>
          <c:cat>
            <c:strRef>
              <c:f>Sheet1!$A$2:$A$10</c:f>
              <c:strCache>
                <c:ptCount val="9"/>
                <c:pt idx="0">
                  <c:v>Кореяда ўқиш</c:v>
                </c:pt>
                <c:pt idx="1">
                  <c:v>Олий таълим</c:v>
                </c:pt>
                <c:pt idx="2">
                  <c:v>Соғлиқ</c:v>
                </c:pt>
                <c:pt idx="3">
                  <c:v>Иш юкламаси / стресс</c:v>
                </c:pt>
                <c:pt idx="4">
                  <c:v>Карьера ўсиши чекланган</c:v>
                </c:pt>
                <c:pt idx="5">
                  <c:v>Бошқа сабаб</c:v>
                </c:pt>
                <c:pt idx="6">
                  <c:v>Шахсий (оилавий)</c:v>
                </c:pt>
                <c:pt idx="7">
                  <c:v>Юқори маошли таклиф</c:v>
                </c:pt>
                <c:pt idx="8">
                  <c:v>Билдирги билан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6</c:v>
                </c:pt>
                <c:pt idx="4">
                  <c:v>6</c:v>
                </c:pt>
                <c:pt idx="5">
                  <c:v>11</c:v>
                </c:pt>
                <c:pt idx="6">
                  <c:v>19</c:v>
                </c:pt>
                <c:pt idx="7">
                  <c:v>23</c:v>
                </c:pt>
                <c:pt idx="8">
                  <c:v>27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8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10"/>
            <c:spPr>
              <a:solidFill>
                <a:srgbClr val="3CC6B8"/>
              </a:solidFill>
            </c:spPr>
          </c:dPt>
          <c:dPt>
            <c:idx val="9"/>
            <c:spPr>
              <a:solidFill>
                <a:srgbClr val="3CC6B8"/>
              </a:solidFill>
            </c:spPr>
          </c:dPt>
          <c:cat>
            <c:strRef>
              <c:f>Sheet1!$A$2:$A$12</c:f>
              <c:strCache>
                <c:ptCount val="11"/>
                <c:pt idx="0">
                  <c:v>Бошқа бўлимлар</c:v>
                </c:pt>
                <c:pt idx="1">
                  <c:v>Технология</c:v>
                </c:pt>
                <c:pt idx="2">
                  <c:v>Техник хизмат</c:v>
                </c:pt>
                <c:pt idx="3">
                  <c:v>Хавфсизлик</c:v>
                </c:pt>
                <c:pt idx="4">
                  <c:v>Маъмурий хизмат</c:v>
                </c:pt>
                <c:pt idx="5">
                  <c:v>CKD йиғув</c:v>
                </c:pt>
                <c:pt idx="6">
                  <c:v>Сифат назорати</c:v>
                </c:pt>
                <c:pt idx="7">
                  <c:v>Бўёқлаш</c:v>
                </c:pt>
                <c:pt idx="8">
                  <c:v>Таъминот</c:v>
                </c:pt>
                <c:pt idx="9">
                  <c:v>SKD йиғув</c:v>
                </c:pt>
                <c:pt idx="10">
                  <c:v>Пайвандлаш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8</c:v>
                </c:pt>
                <c:pt idx="6">
                  <c:v>9</c:v>
                </c:pt>
                <c:pt idx="7">
                  <c:v>9</c:v>
                </c:pt>
                <c:pt idx="8">
                  <c:v>13</c:v>
                </c:pt>
                <c:pt idx="9">
                  <c:v>25</c:v>
                </c:pt>
                <c:pt idx="10">
                  <c:v>29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8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8"/>
            <c:spPr>
              <a:solidFill>
                <a:srgbClr val="3CC6B8"/>
              </a:solidFill>
            </c:spPr>
          </c:dPt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7</c:v>
                </c:pt>
                <c:pt idx="8">
                  <c:v>72</c:v>
                </c:pt>
                <c:pt idx="9">
                  <c:v>24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6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3CC6B8"/>
              </a:solidFill>
              <a:ln w="25400">
                <a:solidFill>
                  <a:srgbClr val="2F343B"/>
                </a:solidFill>
              </a:ln>
            </c:spPr>
          </c:dPt>
          <c:dPt>
            <c:idx val="1"/>
            <c:spPr>
              <a:solidFill>
                <a:srgbClr val="7FD9CF"/>
              </a:solidFill>
              <a:ln w="25400">
                <a:solidFill>
                  <a:srgbClr val="2F343B"/>
                </a:solidFill>
              </a:ln>
            </c:spPr>
          </c:dPt>
          <c:dPt>
            <c:idx val="2"/>
            <c:spPr>
              <a:solidFill>
                <a:srgbClr val="E8826E"/>
              </a:solidFill>
              <a:ln w="25400">
                <a:solidFill>
                  <a:srgbClr val="2F343B"/>
                </a:solidFill>
              </a:ln>
            </c:spPr>
          </c:dPt>
          <c:dPt>
            <c:idx val="3"/>
            <c:spPr>
              <a:solidFill>
                <a:srgbClr val="6B737D"/>
              </a:solidFill>
              <a:ln w="25400">
                <a:solidFill>
                  <a:srgbClr val="2F343B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Ҳа</c:v>
                </c:pt>
                <c:pt idx="1">
                  <c:v>Эҳтимол</c:v>
                </c:pt>
                <c:pt idx="2">
                  <c:v>Йўқ</c:v>
                </c:pt>
                <c:pt idx="3">
                  <c:v>Билмайман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15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8"/>
            <c:spPr>
              <a:solidFill>
                <a:srgbClr val="3CC6B8"/>
              </a:solidFill>
            </c:spPr>
          </c:dPt>
          <c:cat>
            <c:strRef>
              <c:f>Sheet1!$A$2:$A$10</c:f>
              <c:strCache>
                <c:ptCount val="9"/>
                <c:pt idx="0">
                  <c:v>Механик йиғув чилангари (ТМ)</c:v>
                </c:pt>
                <c:pt idx="1">
                  <c:v>Малакали электр монтёр</c:v>
                </c:pt>
                <c:pt idx="2">
                  <c:v>Бўлинма бошлиғи</c:v>
                </c:pt>
                <c:pt idx="3">
                  <c:v>Мастер</c:v>
                </c:pt>
                <c:pt idx="4">
                  <c:v>Омборчи</c:v>
                </c:pt>
                <c:pt idx="5">
                  <c:v>Бутловчи</c:v>
                </c:pt>
                <c:pt idx="6">
                  <c:v>Бригадир</c:v>
                </c:pt>
                <c:pt idx="7">
                  <c:v>Сифат назорати инспектори</c:v>
                </c:pt>
                <c:pt idx="8">
                  <c:v>Пресс пайвандчиси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11</c:v>
                </c:pt>
                <c:pt idx="2">
                  <c:v>14</c:v>
                </c:pt>
                <c:pt idx="3">
                  <c:v>14</c:v>
                </c:pt>
                <c:pt idx="4">
                  <c:v>17</c:v>
                </c:pt>
                <c:pt idx="5">
                  <c:v>26</c:v>
                </c:pt>
                <c:pt idx="6">
                  <c:v>29</c:v>
                </c:pt>
                <c:pt idx="7">
                  <c:v>32</c:v>
                </c:pt>
                <c:pt idx="8">
                  <c:v>44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9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4"/>
            <c:spPr>
              <a:solidFill>
                <a:srgbClr val="3CC6B8"/>
              </a:solidFill>
            </c:spPr>
          </c:dPt>
          <c:cat>
            <c:strRef>
              <c:f>Sheet1!$A$2:$A$6</c:f>
              <c:strCache>
                <c:ptCount val="5"/>
                <c:pt idx="0">
                  <c:v>Йиғув цехи</c:v>
                </c:pt>
                <c:pt idx="1">
                  <c:v>Сифат назорати</c:v>
                </c:pt>
                <c:pt idx="2">
                  <c:v>Бўёқлаш цехи</c:v>
                </c:pt>
                <c:pt idx="3">
                  <c:v>Харид ва таъминот</c:v>
                </c:pt>
                <c:pt idx="4">
                  <c:v>Пайвандлаш цехи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29443</c:v>
                </c:pt>
                <c:pt idx="1">
                  <c:v>29852</c:v>
                </c:pt>
                <c:pt idx="2">
                  <c:v>38567</c:v>
                </c:pt>
                <c:pt idx="3">
                  <c:v>57069</c:v>
                </c:pt>
                <c:pt idx="4">
                  <c:v>66874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9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9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3"/>
            <c:spPr>
              <a:solidFill>
                <a:srgbClr val="3CC6B8"/>
              </a:solidFill>
            </c:spPr>
          </c:dPt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62463</c:v>
                </c:pt>
                <c:pt idx="1">
                  <c:v>39538</c:v>
                </c:pt>
                <c:pt idx="2">
                  <c:v>36519</c:v>
                </c:pt>
                <c:pt idx="3">
                  <c:v>83670</c:v>
                </c:pt>
                <c:pt idx="4">
                  <c:v>24857</c:v>
                </c:pt>
                <c:pt idx="5">
                  <c:v>0</c:v>
                </c:pt>
                <c:pt idx="6">
                  <c:v>1546</c:v>
                </c:pt>
                <c:pt idx="7">
                  <c:v>1546</c:v>
                </c:pt>
                <c:pt idx="8">
                  <c:v>10810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7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Режа</c:v>
                </c:pt>
              </c:strCache>
            </c:strRef>
          </c:tx>
          <c:spPr>
            <a:solidFill>
              <a:srgbClr val="58616B"/>
            </a:solidFill>
          </c:spPr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118.8</c:v>
                </c:pt>
                <c:pt idx="1">
                  <c:v>112.0</c:v>
                </c:pt>
                <c:pt idx="2">
                  <c:v>119.6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CC6B8"/>
            </a:solidFill>
          </c:spPr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93.7</c:v>
                </c:pt>
                <c:pt idx="1">
                  <c:v>98.3</c:v>
                </c:pt>
                <c:pt idx="2">
                  <c:v>100.0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9AA2A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Режа</c:v>
                </c:pt>
              </c:strCache>
            </c:strRef>
          </c:tx>
          <c:spPr>
            <a:solidFill>
              <a:srgbClr val="58616B"/>
            </a:solidFill>
          </c:spPr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25.9</c:v>
                </c:pt>
                <c:pt idx="1">
                  <c:v>19.0</c:v>
                </c:pt>
                <c:pt idx="2">
                  <c:v>23.8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CC6B8"/>
            </a:solidFill>
          </c:spPr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18.6</c:v>
                </c:pt>
                <c:pt idx="1">
                  <c:v>19.4</c:v>
                </c:pt>
                <c:pt idx="2">
                  <c:v>21.2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solidFill>
                <a:srgbClr val="9AA2A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ln w="31750">
              <a:solidFill>
                <a:srgbClr val="3CC6B8"/>
              </a:solidFill>
            </a:ln>
          </c:spPr>
          <c:marker>
            <c:symbol val="circle"/>
            <c:size val="7"/>
            <c:spPr>
              <a:solidFill>
                <a:srgbClr val="262A30"/>
              </a:solidFill>
              <a:ln w="25400">
                <a:solidFill>
                  <a:srgbClr val="3CC6B8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20.08</c:v>
                </c:pt>
                <c:pt idx="1">
                  <c:v>19.51</c:v>
                </c:pt>
                <c:pt idx="2">
                  <c:v>19.42</c:v>
                </c:pt>
                <c:pt idx="3">
                  <c:v>19.65</c:v>
                </c:pt>
                <c:pt idx="4">
                  <c:v>19.68</c:v>
                </c:pt>
                <c:pt idx="5">
                  <c:v>19.32</c:v>
                </c:pt>
                <c:pt idx="6">
                  <c:v>19.57</c:v>
                </c:pt>
                <c:pt idx="7">
                  <c:v>20.41</c:v>
                </c:pt>
                <c:pt idx="8">
                  <c:v>19.67</c:v>
                </c:pt>
              </c:numCache>
            </c:numRef>
          </c:val>
          <c:smooth/>
        </c:ser>
        <c:dLbls>
          <c:numFmt formatCode="0.0" sourceLinked="0"/>
          <c:txPr>
            <a:bodyPr/>
            <a:lstStyle/>
            <a:p>
              <a:pPr>
                <a:defRPr sz="7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50">
                <a:solidFill>
                  <a:srgbClr val="9AA2A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1.0"/>
          <c:min val="18.5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7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E9F98"/>
            </a:solidFill>
          </c:spPr>
          <c:dPt>
            <c:idx val="8"/>
            <c:spPr>
              <a:solidFill>
                <a:srgbClr val="3CC6B8"/>
              </a:solidFill>
            </c:spPr>
          </c:dPt>
          <c:cat>
            <c:strRef>
              <c:f>Sheet1!$A$2:$A$10</c:f>
              <c:strCache>
                <c:ptCount val="9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1864</c:v>
                </c:pt>
                <c:pt idx="1">
                  <c:v>1908</c:v>
                </c:pt>
                <c:pt idx="2">
                  <c:v>1953</c:v>
                </c:pt>
                <c:pt idx="3">
                  <c:v>1965</c:v>
                </c:pt>
                <c:pt idx="4">
                  <c:v>1963</c:v>
                </c:pt>
                <c:pt idx="5">
                  <c:v>1928</c:v>
                </c:pt>
                <c:pt idx="6">
                  <c:v>1847</c:v>
                </c:pt>
                <c:pt idx="7">
                  <c:v>1999</c:v>
                </c:pt>
                <c:pt idx="8">
                  <c:v>2002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70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70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5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70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Қамров</c:v>
                </c:pt>
              </c:strCache>
            </c:strRef>
          </c:tx>
          <c:spPr>
            <a:ln w="31750">
              <a:solidFill>
                <a:srgbClr val="3CC6B8"/>
              </a:solidFill>
            </a:ln>
          </c:spPr>
          <c:marker>
            <c:symbol val="circle"/>
            <c:size val="7"/>
            <c:spPr>
              <a:solidFill>
                <a:srgbClr val="262A30"/>
              </a:solidFill>
              <a:ln w="25400">
                <a:solidFill>
                  <a:srgbClr val="3CC6B8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96.6</c:v>
                </c:pt>
                <c:pt idx="1">
                  <c:v>94.7</c:v>
                </c:pt>
                <c:pt idx="2">
                  <c:v>96.7</c:v>
                </c:pt>
                <c:pt idx="3">
                  <c:v>95.3</c:v>
                </c:pt>
                <c:pt idx="4">
                  <c:v>91.2</c:v>
                </c:pt>
                <c:pt idx="5">
                  <c:v>85.0</c:v>
                </c:pt>
              </c:numCache>
            </c:numRef>
          </c:val>
          <c:smooth/>
        </c:ser>
        <c:dLbls>
          <c:numFmt formatCode="0.0" sourceLinked="0"/>
          <c:txPr>
            <a:bodyPr/>
            <a:lstStyle/>
            <a:p>
              <a:pPr>
                <a:defRPr sz="8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50">
                <a:solidFill>
                  <a:srgbClr val="9AA2A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8A5A52"/>
            </a:solidFill>
          </c:spPr>
          <c:dPt>
            <c:idx val="5"/>
            <c:spPr>
              <a:solidFill>
                <a:srgbClr val="E8826E"/>
              </a:solidFill>
            </c:spPr>
          </c:dPt>
          <c:cat>
            <c:strRef>
              <c:f>Sheet1!$A$2:$A$7</c:f>
              <c:strCache>
                <c:ptCount val="6"/>
                <c:pt idx="0">
                  <c:v>Апр</c:v>
                </c:pt>
                <c:pt idx="1">
                  <c:v>Май</c:v>
                </c:pt>
                <c:pt idx="2">
                  <c:v>Июн</c:v>
                </c:pt>
                <c:pt idx="3">
                  <c:v>Июл</c:v>
                </c:pt>
                <c:pt idx="4">
                  <c:v>Авг</c:v>
                </c:pt>
                <c:pt idx="5">
                  <c:v>Сен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5</c:v>
                </c:pt>
                <c:pt idx="3">
                  <c:v>7</c:v>
                </c:pt>
                <c:pt idx="4">
                  <c:v>13</c:v>
                </c:pt>
                <c:pt idx="5">
                  <c:v>23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8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8616B"/>
            </a:solidFill>
          </c:spPr>
          <c:cat>
            <c:strRef>
              <c:f>Sheet1!$A$2:$A$7</c:f>
              <c:strCache>
                <c:ptCount val="6"/>
                <c:pt idx="0">
                  <c:v>Интизомий жазо
олган ходимлар</c:v>
                </c:pt>
                <c:pt idx="1">
                  <c:v>Масъулиятсизлик
ҳолатлари</c:v>
                </c:pt>
                <c:pt idx="2">
                  <c:v>Сабабсиз
чиқмаслик</c:v>
                </c:pt>
                <c:pt idx="3">
                  <c:v>ЙТҲ, ходим</c:v>
                </c:pt>
                <c:pt idx="4">
                  <c:v>Муштлашув,
ходим</c:v>
                </c:pt>
                <c:pt idx="5">
                  <c:v>Талон-торож,
ходим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</c:v>
                </c:pt>
                <c:pt idx="1">
                  <c:v>46</c:v>
                </c:pt>
                <c:pt idx="2">
                  <c:v>10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3CC6B8"/>
            </a:solidFill>
          </c:spPr>
          <c:cat>
            <c:strRef>
              <c:f>Sheet1!$A$2:$A$7</c:f>
              <c:strCache>
                <c:ptCount val="6"/>
                <c:pt idx="0">
                  <c:v>Интизомий жазо
олган ходимлар</c:v>
                </c:pt>
                <c:pt idx="1">
                  <c:v>Масъулиятсизлик
ҳолатлари</c:v>
                </c:pt>
                <c:pt idx="2">
                  <c:v>Сабабсиз
чиқмаслик</c:v>
                </c:pt>
                <c:pt idx="3">
                  <c:v>ЙТҲ, ходим</c:v>
                </c:pt>
                <c:pt idx="4">
                  <c:v>Муштлашув,
ходим</c:v>
                </c:pt>
                <c:pt idx="5">
                  <c:v>Талон-торож,
ходим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24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>
                  <a:solidFill>
                    <a:srgbClr val="EDEBEB"/>
                  </a:solidFill>
                  <a:latin typeface="Segoe UI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434A53"/>
            </a:solidFill>
          </a:ln>
        </c:spPr>
        <c:txPr>
          <a:bodyPr/>
          <a:lstStyle/>
          <a:p>
            <a:pPr>
              <a:defRPr sz="850">
                <a:solidFill>
                  <a:srgbClr val="9AA2A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50">
              <a:solidFill>
                <a:srgbClr val="9AA2AC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50">
          <a:solidFill>
            <a:srgbClr val="9AA2A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Relationship Id="rId9" Type="http://schemas.openxmlformats.org/officeDocument/2006/relationships/chart" Target="../charts/char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4"/>
          <p:cNvSpPr/>
          <p:nvPr/>
        </p:nvSpPr>
        <p:spPr>
          <a:xfrm>
            <a:off x="3487979" y="638251"/>
            <a:ext cx="5215738" cy="5215738"/>
          </a:xfrm>
          <a:prstGeom prst="ellipse">
            <a:avLst/>
          </a:prstGeom>
          <a:solidFill>
            <a:srgbClr val="E2DDDF"/>
          </a:solidFill>
          <a:ln>
            <a:noFill/>
          </a:ln>
          <a:effectLst/>
          <a:effectLst>
            <a:softEdge rad="19842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3"/>
          <p:cNvSpPr/>
          <p:nvPr/>
        </p:nvSpPr>
        <p:spPr>
          <a:xfrm>
            <a:off x="4111600" y="1261872"/>
            <a:ext cx="3968496" cy="3968496"/>
          </a:xfrm>
          <a:prstGeom prst="ellipse">
            <a:avLst/>
          </a:prstGeom>
          <a:solidFill>
            <a:srgbClr val="D3CECF"/>
          </a:solidFill>
          <a:ln>
            <a:noFill/>
          </a:ln>
          <a:effectLst/>
          <a:effectLst>
            <a:softEdge rad="19842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2"/>
          <p:cNvSpPr/>
          <p:nvPr/>
        </p:nvSpPr>
        <p:spPr>
          <a:xfrm>
            <a:off x="4678528" y="1828800"/>
            <a:ext cx="2834640" cy="2834640"/>
          </a:xfrm>
          <a:prstGeom prst="ellipse">
            <a:avLst/>
          </a:prstGeom>
          <a:solidFill>
            <a:srgbClr val="BFBABC"/>
          </a:solidFill>
          <a:ln>
            <a:noFill/>
          </a:ln>
          <a:effectLst/>
          <a:effectLst>
            <a:softEdge rad="19842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r1"/>
          <p:cNvSpPr/>
          <p:nvPr/>
        </p:nvSpPr>
        <p:spPr>
          <a:xfrm>
            <a:off x="5132070" y="2282342"/>
            <a:ext cx="1927555" cy="1927555"/>
          </a:xfrm>
          <a:prstGeom prst="ellipse">
            <a:avLst/>
          </a:prstGeom>
          <a:solidFill>
            <a:srgbClr val="D8D3D5"/>
          </a:solidFill>
          <a:ln>
            <a:noFill/>
          </a:ln>
          <a:effectLst/>
          <a:effectLst>
            <a:softEdge rad="198424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disc"/>
          <p:cNvSpPr/>
          <p:nvPr/>
        </p:nvSpPr>
        <p:spPr>
          <a:xfrm>
            <a:off x="5524348" y="2674620"/>
            <a:ext cx="1143000" cy="1143000"/>
          </a:xfrm>
          <a:prstGeom prst="ellipse">
            <a:avLst/>
          </a:prstGeom>
          <a:solidFill>
            <a:srgbClr val="F1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mark" descr="mark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808" y="2926080"/>
            <a:ext cx="640080" cy="64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4"/>
          <p:cNvSpPr/>
          <p:nvPr/>
        </p:nvSpPr>
        <p:spPr>
          <a:xfrm>
            <a:off x="1384859" y="-1464869"/>
            <a:ext cx="9421978" cy="9421978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3"/>
          <p:cNvSpPr/>
          <p:nvPr/>
        </p:nvSpPr>
        <p:spPr>
          <a:xfrm>
            <a:off x="2511400" y="-338328"/>
            <a:ext cx="7168896" cy="7168896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2"/>
          <p:cNvSpPr/>
          <p:nvPr/>
        </p:nvSpPr>
        <p:spPr>
          <a:xfrm>
            <a:off x="3535528" y="685800"/>
            <a:ext cx="5120640" cy="512064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r1"/>
          <p:cNvSpPr/>
          <p:nvPr/>
        </p:nvSpPr>
        <p:spPr>
          <a:xfrm>
            <a:off x="4354830" y="1505102"/>
            <a:ext cx="3482035" cy="3482035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"/>
          <p:cNvSpPr/>
          <p:nvPr/>
        </p:nvSpPr>
        <p:spPr>
          <a:xfrm>
            <a:off x="3945179" y="1095451"/>
            <a:ext cx="4301338" cy="4301338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arc2"/>
          <p:cNvSpPr/>
          <p:nvPr/>
        </p:nvSpPr>
        <p:spPr>
          <a:xfrm>
            <a:off x="3023464" y="173736"/>
            <a:ext cx="6144768" cy="6144768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1"/>
          <p:cNvSpPr/>
          <p:nvPr/>
        </p:nvSpPr>
        <p:spPr>
          <a:xfrm>
            <a:off x="4161625" y="2099097"/>
            <a:ext cx="143378" cy="14337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ot2"/>
          <p:cNvSpPr/>
          <p:nvPr/>
        </p:nvSpPr>
        <p:spPr>
          <a:xfrm>
            <a:off x="5756383" y="6235124"/>
            <a:ext cx="143378" cy="14337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disc"/>
          <p:cNvSpPr/>
          <p:nvPr/>
        </p:nvSpPr>
        <p:spPr>
          <a:xfrm>
            <a:off x="5090008" y="2240280"/>
            <a:ext cx="2011680" cy="2011680"/>
          </a:xfrm>
          <a:prstGeom prst="ellipse">
            <a:avLst/>
          </a:prstGeom>
          <a:solidFill>
            <a:srgbClr val="E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!!mark" descr="mark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77" y="2682850"/>
            <a:ext cx="1126541" cy="1126541"/>
          </a:xfrm>
          <a:prstGeom prst="rect">
            <a:avLst/>
          </a:prstGeom>
        </p:spPr>
      </p:pic>
      <p:pic>
        <p:nvPicPr>
          <p:cNvPr id="13" name="!!brand" descr="wo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8" y="6144768"/>
            <a:ext cx="1645920" cy="6503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-960120" y="-777240"/>
            <a:ext cx="8412480" cy="8412480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45720" y="228600"/>
            <a:ext cx="6400800" cy="640080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960120" y="1143000"/>
            <a:ext cx="4572000" cy="45720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691640" y="1874520"/>
            <a:ext cx="3108960" cy="3108960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1325880" y="1508760"/>
            <a:ext cx="3840480" cy="3840480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502920" y="685800"/>
            <a:ext cx="5486400" cy="548640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1519135" y="2404872"/>
            <a:ext cx="128016" cy="12801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2943026" y="6097753"/>
            <a:ext cx="128016" cy="12801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isc"/>
          <p:cNvSpPr/>
          <p:nvPr/>
        </p:nvSpPr>
        <p:spPr>
          <a:xfrm>
            <a:off x="2308860" y="2491740"/>
            <a:ext cx="1874520" cy="1874520"/>
          </a:xfrm>
          <a:prstGeom prst="ellipse">
            <a:avLst/>
          </a:prstGeom>
          <a:solidFill>
            <a:srgbClr val="E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!!mark" descr="mark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54" y="2904134"/>
            <a:ext cx="1049731" cy="1049731"/>
          </a:xfrm>
          <a:prstGeom prst="rect">
            <a:avLst/>
          </a:prstGeom>
        </p:spPr>
      </p:pic>
      <p:sp>
        <p:nvSpPr>
          <p:cNvPr id="12" name="!!sub"/>
          <p:cNvSpPr txBox="1"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CC6B8"/>
                </a:solidFill>
                <a:latin typeface="Segoe UI Semibold"/>
              </a:rPr>
              <a:t>ADM JIZZAKH AJ</a:t>
            </a:r>
          </a:p>
        </p:txBody>
      </p:sp>
      <p:sp>
        <p:nvSpPr>
          <p:cNvPr id="13" name="!!title"/>
          <p:cNvSpPr txBox="1"/>
          <p:nvPr/>
        </p:nvSpPr>
        <p:spPr>
          <a:xfrm>
            <a:off x="6492240" y="224028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400" b="0" i="0">
                <a:solidFill>
                  <a:srgbClr val="EDEBEB"/>
                </a:solidFill>
                <a:latin typeface="Segoe UI Light"/>
              </a:rPr>
              <a:t>HRM</a:t>
            </a:r>
          </a:p>
          <a:p>
            <a:pPr algn="l">
              <a:lnSpc>
                <a:spcPct val="92000"/>
              </a:lnSpc>
            </a:pPr>
            <a:r>
              <a:rPr sz="4400" b="0" i="0">
                <a:solidFill>
                  <a:srgbClr val="EDEBEB"/>
                </a:solidFill>
                <a:latin typeface="Segoe UI Light"/>
              </a:rPr>
              <a:t>Ҳисоботи 2026</a:t>
            </a:r>
          </a:p>
        </p:txBody>
      </p:sp>
      <p:sp>
        <p:nvSpPr>
          <p:cNvPr id="14" name="!!foot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AA2AC"/>
                </a:solidFill>
                <a:latin typeface="Segoe UI"/>
              </a:rPr>
              <a:t>Инсон ресурслари · 9 ой натижалари</a:t>
            </a:r>
          </a:p>
        </p:txBody>
      </p:sp>
      <p:sp>
        <p:nvSpPr>
          <p:cNvPr id="15" name="!!pill"/>
          <p:cNvSpPr/>
          <p:nvPr/>
        </p:nvSpPr>
        <p:spPr>
          <a:xfrm>
            <a:off x="6492240" y="470916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EDEBE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pilltx"/>
          <p:cNvSpPr txBox="1"/>
          <p:nvPr/>
        </p:nvSpPr>
        <p:spPr>
          <a:xfrm>
            <a:off x="6492240" y="4709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EDEBEB"/>
                </a:solidFill>
                <a:latin typeface="Segoe UI"/>
              </a:rPr>
              <a:t>Сентабр 2026</a:t>
            </a:r>
          </a:p>
        </p:txBody>
      </p:sp>
      <p:sp>
        <p:nvSpPr>
          <p:cNvPr id="17" name="!!acc"/>
          <p:cNvSpPr/>
          <p:nvPr/>
        </p:nvSpPr>
        <p:spPr>
          <a:xfrm>
            <a:off x="6492240" y="5440680"/>
            <a:ext cx="914400" cy="365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!!brand" descr="word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2099920" y="-566928"/>
            <a:ext cx="7991856" cy="7991856"/>
          </a:xfrm>
          <a:prstGeom prst="ellipse">
            <a:avLst/>
          </a:prstGeom>
          <a:solidFill>
            <a:srgbClr val="2B3037">
              <a:alpha val="90000"/>
            </a:srgbClr>
          </a:solidFill>
          <a:ln w="9525">
            <a:solidFill>
              <a:srgbClr val="3A4148">
                <a:alpha val="9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3055468" y="388620"/>
            <a:ext cx="6080760" cy="6080760"/>
          </a:xfrm>
          <a:prstGeom prst="ellipse">
            <a:avLst/>
          </a:prstGeom>
          <a:solidFill>
            <a:srgbClr val="30353D">
              <a:alpha val="90000"/>
            </a:srgbClr>
          </a:solidFill>
          <a:ln w="9525">
            <a:solidFill>
              <a:srgbClr val="434A53">
                <a:alpha val="9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3924148" y="1257300"/>
            <a:ext cx="4343400" cy="4343400"/>
          </a:xfrm>
          <a:prstGeom prst="ellipse">
            <a:avLst/>
          </a:prstGeom>
          <a:solidFill>
            <a:srgbClr val="2A2F36">
              <a:alpha val="90000"/>
            </a:srgbClr>
          </a:solidFill>
          <a:ln w="9525">
            <a:solidFill>
              <a:srgbClr val="4B535C">
                <a:alpha val="9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4619092" y="1952244"/>
            <a:ext cx="2953512" cy="2953512"/>
          </a:xfrm>
          <a:prstGeom prst="ellipse">
            <a:avLst/>
          </a:prstGeom>
          <a:solidFill>
            <a:srgbClr val="343A42">
              <a:alpha val="90000"/>
            </a:srgbClr>
          </a:solidFill>
          <a:ln w="9525">
            <a:solidFill>
              <a:srgbClr val="58616B">
                <a:alpha val="9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4271620" y="1604772"/>
            <a:ext cx="3648456" cy="3648456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3489808" y="822960"/>
            <a:ext cx="5212080" cy="521208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4455212" y="2456078"/>
            <a:ext cx="121615" cy="121615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5807909" y="5964316"/>
            <a:ext cx="121615" cy="121615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title"/>
          <p:cNvSpPr txBox="1"/>
          <p:nvPr/>
        </p:nvSpPr>
        <p:spPr>
          <a:xfrm>
            <a:off x="4632808" y="28803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EDEBEB"/>
                </a:solidFill>
                <a:latin typeface="Segoe UI Light"/>
              </a:rPr>
              <a:t>ҲИСОБОТ</a:t>
            </a:r>
          </a:p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EDEBEB"/>
                </a:solidFill>
                <a:latin typeface="Segoe UI Light"/>
              </a:rPr>
              <a:t>МУНДАРИЖАСИ</a:t>
            </a:r>
          </a:p>
        </p:txBody>
      </p:sp>
      <p:sp>
        <p:nvSpPr>
          <p:cNvPr id="11" name="!!toc0n"/>
          <p:cNvSpPr txBox="1"/>
          <p:nvPr/>
        </p:nvSpPr>
        <p:spPr>
          <a:xfrm>
            <a:off x="548640" y="1051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2" name="!!toc0l"/>
          <p:cNvSpPr/>
          <p:nvPr/>
        </p:nvSpPr>
        <p:spPr>
          <a:xfrm>
            <a:off x="1325880" y="136245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toc0d"/>
          <p:cNvSpPr/>
          <p:nvPr/>
        </p:nvSpPr>
        <p:spPr>
          <a:xfrm>
            <a:off x="2130552" y="132588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oc0t"/>
          <p:cNvSpPr txBox="1"/>
          <p:nvPr/>
        </p:nvSpPr>
        <p:spPr>
          <a:xfrm>
            <a:off x="2331720" y="112471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"/>
              </a:rPr>
              <a:t>Ишга қабул ва адаптация</a:t>
            </a:r>
          </a:p>
        </p:txBody>
      </p:sp>
      <p:sp>
        <p:nvSpPr>
          <p:cNvPr id="15" name="!!toc0p"/>
          <p:cNvSpPr txBox="1"/>
          <p:nvPr/>
        </p:nvSpPr>
        <p:spPr>
          <a:xfrm>
            <a:off x="2331720" y="1581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слайд 5</a:t>
            </a:r>
          </a:p>
        </p:txBody>
      </p:sp>
      <p:sp>
        <p:nvSpPr>
          <p:cNvPr id="16" name="!!toc1n"/>
          <p:cNvSpPr txBox="1"/>
          <p:nvPr/>
        </p:nvSpPr>
        <p:spPr>
          <a:xfrm>
            <a:off x="548640" y="26060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17" name="!!toc1l"/>
          <p:cNvSpPr/>
          <p:nvPr/>
        </p:nvSpPr>
        <p:spPr>
          <a:xfrm>
            <a:off x="1325880" y="291693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oc1d"/>
          <p:cNvSpPr/>
          <p:nvPr/>
        </p:nvSpPr>
        <p:spPr>
          <a:xfrm>
            <a:off x="2130552" y="288036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toc1t"/>
          <p:cNvSpPr txBox="1"/>
          <p:nvPr/>
        </p:nvSpPr>
        <p:spPr>
          <a:xfrm>
            <a:off x="2331720" y="267919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"/>
              </a:rPr>
              <a:t>Самарадорлик ва KPI</a:t>
            </a:r>
          </a:p>
        </p:txBody>
      </p:sp>
      <p:sp>
        <p:nvSpPr>
          <p:cNvPr id="20" name="!!toc1p"/>
          <p:cNvSpPr txBox="1"/>
          <p:nvPr/>
        </p:nvSpPr>
        <p:spPr>
          <a:xfrm>
            <a:off x="2331720" y="3136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слайд 15</a:t>
            </a:r>
          </a:p>
        </p:txBody>
      </p:sp>
      <p:sp>
        <p:nvSpPr>
          <p:cNvPr id="21" name="!!toc2n"/>
          <p:cNvSpPr txBox="1"/>
          <p:nvPr/>
        </p:nvSpPr>
        <p:spPr>
          <a:xfrm>
            <a:off x="548640" y="41605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EDEBEB"/>
                </a:solidFill>
                <a:latin typeface="Segoe UI Light"/>
              </a:rPr>
              <a:t>03</a:t>
            </a:r>
          </a:p>
        </p:txBody>
      </p:sp>
      <p:sp>
        <p:nvSpPr>
          <p:cNvPr id="22" name="!!toc2l"/>
          <p:cNvSpPr/>
          <p:nvPr/>
        </p:nvSpPr>
        <p:spPr>
          <a:xfrm>
            <a:off x="1325880" y="447141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!!toc2d"/>
          <p:cNvSpPr/>
          <p:nvPr/>
        </p:nvSpPr>
        <p:spPr>
          <a:xfrm>
            <a:off x="2130552" y="443484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oc2t"/>
          <p:cNvSpPr txBox="1"/>
          <p:nvPr/>
        </p:nvSpPr>
        <p:spPr>
          <a:xfrm>
            <a:off x="2331720" y="42336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"/>
              </a:rPr>
              <a:t>Ўқитишлар</a:t>
            </a:r>
          </a:p>
        </p:txBody>
      </p:sp>
      <p:sp>
        <p:nvSpPr>
          <p:cNvPr id="25" name="!!toc2p"/>
          <p:cNvSpPr txBox="1"/>
          <p:nvPr/>
        </p:nvSpPr>
        <p:spPr>
          <a:xfrm>
            <a:off x="2331720" y="4690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слайд 20</a:t>
            </a:r>
          </a:p>
        </p:txBody>
      </p:sp>
      <p:sp>
        <p:nvSpPr>
          <p:cNvPr id="26" name="!!toc3n"/>
          <p:cNvSpPr txBox="1"/>
          <p:nvPr/>
        </p:nvSpPr>
        <p:spPr>
          <a:xfrm>
            <a:off x="548640" y="55321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EDEBEB"/>
                </a:solidFill>
                <a:latin typeface="Segoe UI Light"/>
              </a:rPr>
              <a:t>04</a:t>
            </a:r>
          </a:p>
        </p:txBody>
      </p:sp>
      <p:sp>
        <p:nvSpPr>
          <p:cNvPr id="27" name="!!toc3l"/>
          <p:cNvSpPr/>
          <p:nvPr/>
        </p:nvSpPr>
        <p:spPr>
          <a:xfrm>
            <a:off x="1325880" y="584301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toc3d"/>
          <p:cNvSpPr/>
          <p:nvPr/>
        </p:nvSpPr>
        <p:spPr>
          <a:xfrm>
            <a:off x="2130552" y="580644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!!toc3t"/>
          <p:cNvSpPr txBox="1"/>
          <p:nvPr/>
        </p:nvSpPr>
        <p:spPr>
          <a:xfrm>
            <a:off x="2331720" y="56052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"/>
              </a:rPr>
              <a:t>Grading тизими</a:t>
            </a:r>
          </a:p>
        </p:txBody>
      </p:sp>
      <p:sp>
        <p:nvSpPr>
          <p:cNvPr id="30" name="!!toc3p"/>
          <p:cNvSpPr txBox="1"/>
          <p:nvPr/>
        </p:nvSpPr>
        <p:spPr>
          <a:xfrm>
            <a:off x="2331720" y="6062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слайд 23</a:t>
            </a:r>
          </a:p>
        </p:txBody>
      </p:sp>
      <p:sp>
        <p:nvSpPr>
          <p:cNvPr id="31" name="!!toc4n"/>
          <p:cNvSpPr txBox="1"/>
          <p:nvPr/>
        </p:nvSpPr>
        <p:spPr>
          <a:xfrm>
            <a:off x="10820095" y="1051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0" i="0">
                <a:solidFill>
                  <a:srgbClr val="EDEBEB"/>
                </a:solidFill>
                <a:latin typeface="Segoe UI Light"/>
              </a:rPr>
              <a:t>05</a:t>
            </a:r>
          </a:p>
        </p:txBody>
      </p:sp>
      <p:sp>
        <p:nvSpPr>
          <p:cNvPr id="32" name="!!toc4l"/>
          <p:cNvSpPr/>
          <p:nvPr/>
        </p:nvSpPr>
        <p:spPr>
          <a:xfrm>
            <a:off x="10042855" y="136245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!!toc4d"/>
          <p:cNvSpPr/>
          <p:nvPr/>
        </p:nvSpPr>
        <p:spPr>
          <a:xfrm>
            <a:off x="9969703" y="132588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!!toc4t"/>
          <p:cNvSpPr txBox="1"/>
          <p:nvPr/>
        </p:nvSpPr>
        <p:spPr>
          <a:xfrm>
            <a:off x="6705295" y="1124712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EDEBEB"/>
                </a:solidFill>
                <a:latin typeface="Segoe UI"/>
              </a:rPr>
              <a:t>Электрон ариза тизими</a:t>
            </a:r>
          </a:p>
        </p:txBody>
      </p:sp>
      <p:sp>
        <p:nvSpPr>
          <p:cNvPr id="35" name="!!toc4p"/>
          <p:cNvSpPr txBox="1"/>
          <p:nvPr/>
        </p:nvSpPr>
        <p:spPr>
          <a:xfrm>
            <a:off x="6705295" y="161848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37D"/>
                </a:solidFill>
                <a:latin typeface="Segoe UI"/>
              </a:rPr>
              <a:t>слайд 26</a:t>
            </a:r>
          </a:p>
        </p:txBody>
      </p:sp>
      <p:sp>
        <p:nvSpPr>
          <p:cNvPr id="36" name="!!toc5n"/>
          <p:cNvSpPr txBox="1"/>
          <p:nvPr/>
        </p:nvSpPr>
        <p:spPr>
          <a:xfrm>
            <a:off x="10820095" y="26060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0" i="0">
                <a:solidFill>
                  <a:srgbClr val="EDEBEB"/>
                </a:solidFill>
                <a:latin typeface="Segoe UI Light"/>
              </a:rPr>
              <a:t>06</a:t>
            </a:r>
          </a:p>
        </p:txBody>
      </p:sp>
      <p:sp>
        <p:nvSpPr>
          <p:cNvPr id="37" name="!!toc5l"/>
          <p:cNvSpPr/>
          <p:nvPr/>
        </p:nvSpPr>
        <p:spPr>
          <a:xfrm>
            <a:off x="10042855" y="291693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!!toc5d"/>
          <p:cNvSpPr/>
          <p:nvPr/>
        </p:nvSpPr>
        <p:spPr>
          <a:xfrm>
            <a:off x="9969703" y="288036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!!toc5t"/>
          <p:cNvSpPr txBox="1"/>
          <p:nvPr/>
        </p:nvSpPr>
        <p:spPr>
          <a:xfrm>
            <a:off x="6705295" y="2679192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EDEBEB"/>
                </a:solidFill>
                <a:latin typeface="Segoe UI"/>
              </a:rPr>
              <a:t>Корпоратив маданият ва коммуникациялар</a:t>
            </a:r>
          </a:p>
        </p:txBody>
      </p:sp>
      <p:sp>
        <p:nvSpPr>
          <p:cNvPr id="40" name="!!toc5p"/>
          <p:cNvSpPr txBox="1"/>
          <p:nvPr/>
        </p:nvSpPr>
        <p:spPr>
          <a:xfrm>
            <a:off x="6705295" y="31729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37D"/>
                </a:solidFill>
                <a:latin typeface="Segoe UI"/>
              </a:rPr>
              <a:t>слайд 29</a:t>
            </a:r>
          </a:p>
        </p:txBody>
      </p:sp>
      <p:sp>
        <p:nvSpPr>
          <p:cNvPr id="41" name="!!toc6n"/>
          <p:cNvSpPr txBox="1"/>
          <p:nvPr/>
        </p:nvSpPr>
        <p:spPr>
          <a:xfrm>
            <a:off x="10820095" y="41605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3000" b="0" i="0">
                <a:solidFill>
                  <a:srgbClr val="EDEBEB"/>
                </a:solidFill>
                <a:latin typeface="Segoe UI Light"/>
              </a:rPr>
              <a:t>07</a:t>
            </a:r>
          </a:p>
        </p:txBody>
      </p:sp>
      <p:sp>
        <p:nvSpPr>
          <p:cNvPr id="42" name="!!toc6l"/>
          <p:cNvSpPr/>
          <p:nvPr/>
        </p:nvSpPr>
        <p:spPr>
          <a:xfrm>
            <a:off x="10042855" y="4471416"/>
            <a:ext cx="822960" cy="228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!!toc6d"/>
          <p:cNvSpPr/>
          <p:nvPr/>
        </p:nvSpPr>
        <p:spPr>
          <a:xfrm>
            <a:off x="9969703" y="4434840"/>
            <a:ext cx="91440" cy="9144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!!toc6t"/>
          <p:cNvSpPr txBox="1"/>
          <p:nvPr/>
        </p:nvSpPr>
        <p:spPr>
          <a:xfrm>
            <a:off x="6705295" y="4233672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EDEBEB"/>
                </a:solidFill>
                <a:latin typeface="Segoe UI"/>
              </a:rPr>
              <a:t>Интизом бўйича</a:t>
            </a:r>
          </a:p>
        </p:txBody>
      </p:sp>
      <p:sp>
        <p:nvSpPr>
          <p:cNvPr id="45" name="!!toc6p"/>
          <p:cNvSpPr txBox="1"/>
          <p:nvPr/>
        </p:nvSpPr>
        <p:spPr>
          <a:xfrm>
            <a:off x="6705295" y="472744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6B737D"/>
                </a:solidFill>
                <a:latin typeface="Segoe UI"/>
              </a:rPr>
              <a:t>слайд 32</a:t>
            </a:r>
          </a:p>
        </p:txBody>
      </p:sp>
      <p:pic>
        <p:nvPicPr>
          <p:cNvPr id="46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47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48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Ишга қабул қилиш ва адаптация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Ёллаш жараёни, баҳолаш тизими ва адаптация дастури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Ходимлар статистикаси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ADM JIZZAKH AJ · Сентабр 2026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06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234440"/>
            <a:ext cx="3017520" cy="5074920"/>
          </a:xfrm>
          <a:prstGeom prst="roundRect">
            <a:avLst>
              <a:gd name="adj" fmla="val 242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4173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ШТАТ ЖАДВАЛИ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6459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EDEBEB"/>
                </a:solidFill>
                <a:latin typeface="Segoe UI Light"/>
              </a:rPr>
              <a:t>3 245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97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АМАЛДА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3CC6B8"/>
                </a:solidFill>
                <a:latin typeface="Segoe UI Light"/>
              </a:rPr>
              <a:t>2 738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2560320" cy="109728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160295" cy="109728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Тўлиқлик 84,4%  ·  штатдан −496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72000"/>
            <a:ext cx="2560320" cy="9144"/>
          </a:xfrm>
          <a:prstGeom prst="rect">
            <a:avLst/>
          </a:prstGeom>
          <a:solidFill>
            <a:srgbClr val="43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2 502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2AC"/>
                </a:solidFill>
                <a:latin typeface="Segoe UI"/>
              </a:rPr>
              <a:t>Эркаклар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709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236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120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2AC"/>
                </a:solidFill>
                <a:latin typeface="Segoe UI"/>
              </a:rPr>
              <a:t>Аёллар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62356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071155" y="5623560"/>
            <a:ext cx="220685" cy="91440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" y="57881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91,4%  ·  8,6%</a:t>
            </a:r>
          </a:p>
        </p:txBody>
      </p:sp>
      <p:sp>
        <p:nvSpPr>
          <p:cNvPr id="33" name="!!c2"/>
          <p:cNvSpPr/>
          <p:nvPr/>
        </p:nvSpPr>
        <p:spPr>
          <a:xfrm>
            <a:off x="3703320" y="12344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703320" y="139903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31920" y="13624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ИНЖЕНЕР-ТЕХНИК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1581912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510</a:t>
            </a:r>
          </a:p>
        </p:txBody>
      </p:sp>
      <p:sp>
        <p:nvSpPr>
          <p:cNvPr id="37" name="!!c3"/>
          <p:cNvSpPr/>
          <p:nvPr/>
        </p:nvSpPr>
        <p:spPr>
          <a:xfrm>
            <a:off x="5440680" y="12344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40680" y="139903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0" y="13624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МАСТЕР (G/L)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1581912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94</a:t>
            </a:r>
          </a:p>
        </p:txBody>
      </p:sp>
      <p:sp>
        <p:nvSpPr>
          <p:cNvPr id="41" name="!!c4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178040" y="139903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06640" y="13624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ЎРТАЧА ЁШ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1581912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703320" y="2862072"/>
            <a:ext cx="54864" cy="996696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931920" y="28254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ИМКОНИЯТИ ЧЕКЛАНГАН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044952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36941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режа: 50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440680" y="286207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69280" y="28254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БОЛА ПАРВАРИШИ ТАЪТИЛИДА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3044952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14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78040" y="269748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60920" y="28346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НОГИРОНЛИК КВОТАСИ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09067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8826E"/>
                </a:solidFill>
                <a:latin typeface="Segoe UI Light"/>
              </a:rPr>
              <a:t>36%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60920" y="3730752"/>
            <a:ext cx="1234440" cy="73152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7360920" y="3730752"/>
            <a:ext cx="444398" cy="73152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8961120" y="1234440"/>
            <a:ext cx="2743200" cy="5074920"/>
          </a:xfrm>
          <a:prstGeom prst="roundRect">
            <a:avLst>
              <a:gd name="adj" fmla="val 266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89720" y="1417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ЁШ БЎЙИЧА ТАҚСИМОТ</a:t>
            </a:r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9144000" y="1737360"/>
          <a:ext cx="237744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9144000" y="2606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EDEBEB"/>
                </a:solidFill>
                <a:latin typeface="Segoe UI Light"/>
              </a:rPr>
              <a:t>2 688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3017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нафар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9720" y="4416552"/>
            <a:ext cx="109728" cy="10972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418320" y="43434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18–29 ёш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45811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1 556 нафар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34340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 i="0">
                <a:solidFill>
                  <a:srgbClr val="EDEBEB"/>
                </a:solidFill>
                <a:latin typeface="Segoe UI Light"/>
              </a:rPr>
              <a:t>58,3%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5038344"/>
            <a:ext cx="109728" cy="109728"/>
          </a:xfrm>
          <a:prstGeom prst="rect">
            <a:avLst/>
          </a:prstGeom>
          <a:solidFill>
            <a:srgbClr val="7F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418320" y="4965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30–41 ёш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202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932 нафар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4965192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 i="0">
                <a:solidFill>
                  <a:srgbClr val="EDEBEB"/>
                </a:solidFill>
                <a:latin typeface="Segoe UI Light"/>
              </a:rPr>
              <a:t>34,3%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9720" y="5660136"/>
            <a:ext cx="109728" cy="109728"/>
          </a:xfrm>
          <a:prstGeom prst="rect">
            <a:avLst/>
          </a:prstGeom>
          <a:solidFill>
            <a:srgbClr val="6B7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418320" y="55869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41 ёш ва ундан катта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58247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200 нафар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5586984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 i="0">
                <a:solidFill>
                  <a:srgbClr val="EDEBEB"/>
                </a:solidFill>
                <a:latin typeface="Segoe UI Light"/>
              </a:rPr>
              <a:t>7,4%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703320" y="42062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931920" y="43891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ШТАТ ТАРКИБИ (НАФАР)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31920" y="466344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Инженер-техник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0" y="4809378"/>
            <a:ext cx="2103120" cy="92172"/>
          </a:xfrm>
          <a:prstGeom prst="roundRect">
            <a:avLst>
              <a:gd name="adj" fmla="val 49603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5943600" y="4809378"/>
            <a:ext cx="2103120" cy="92172"/>
          </a:xfrm>
          <a:prstGeom prst="roundRect">
            <a:avLst>
              <a:gd name="adj" fmla="val 49603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8119872" y="466344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510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5047488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Мастер (G/L)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0" y="5193426"/>
            <a:ext cx="2103120" cy="92172"/>
          </a:xfrm>
          <a:prstGeom prst="roundRect">
            <a:avLst>
              <a:gd name="adj" fmla="val 49603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5943600" y="5193426"/>
            <a:ext cx="387634" cy="92172"/>
          </a:xfrm>
          <a:prstGeom prst="roundRect">
            <a:avLst>
              <a:gd name="adj" fmla="val 49603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119872" y="5047488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31920" y="543153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Бола парвариши таътилида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943600" y="5577474"/>
            <a:ext cx="2103120" cy="92172"/>
          </a:xfrm>
          <a:prstGeom prst="roundRect">
            <a:avLst>
              <a:gd name="adj" fmla="val 49603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5943600" y="5577474"/>
            <a:ext cx="57733" cy="92172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119872" y="543153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581558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Имконияти чекланган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43600" y="5961522"/>
            <a:ext cx="2103120" cy="92172"/>
          </a:xfrm>
          <a:prstGeom prst="roundRect">
            <a:avLst>
              <a:gd name="adj" fmla="val 49603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5943600" y="5961522"/>
            <a:ext cx="74228" cy="92172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119872" y="5815584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2026-йил ишга қабул қилиш режаси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Бўлимлар кесимида режалаштирилган ишга қабул қилиш кўрсаткичлари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07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УМУМИЙ РЕЖА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855</a:t>
            </a:r>
          </a:p>
        </p:txBody>
      </p:sp>
      <p:sp>
        <p:nvSpPr>
          <p:cNvPr id="21" name="!!c2"/>
          <p:cNvSpPr/>
          <p:nvPr/>
        </p:nvSpPr>
        <p:spPr>
          <a:xfrm>
            <a:off x="2761488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761488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990088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БАЖАРИЛДИ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685</a:t>
            </a:r>
          </a:p>
        </p:txBody>
      </p:sp>
      <p:sp>
        <p:nvSpPr>
          <p:cNvPr id="25" name="!!c3"/>
          <p:cNvSpPr/>
          <p:nvPr/>
        </p:nvSpPr>
        <p:spPr>
          <a:xfrm>
            <a:off x="5020056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020056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48656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БАЖАРИЛИШ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3CC6B8"/>
                </a:solidFill>
                <a:latin typeface="Segoe UI Light"/>
              </a:rPr>
              <a:t>80,1%</a:t>
            </a:r>
          </a:p>
        </p:txBody>
      </p:sp>
      <p:sp>
        <p:nvSpPr>
          <p:cNvPr id="29" name="!!c4"/>
          <p:cNvSpPr/>
          <p:nvPr/>
        </p:nvSpPr>
        <p:spPr>
          <a:xfrm>
            <a:off x="7278624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78624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07224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ҚОЛГАН РЕЖА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170</a:t>
            </a:r>
          </a:p>
        </p:txBody>
      </p:sp>
      <p:sp>
        <p:nvSpPr>
          <p:cNvPr id="33" name="!!c5"/>
          <p:cNvSpPr/>
          <p:nvPr/>
        </p:nvSpPr>
        <p:spPr>
          <a:xfrm>
            <a:off x="9537192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537192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65792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ЗАХИРА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377440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25146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ОЙМА-ОЙ ИШГА ҚАБУЛ ҚИЛИШ (НАФАР)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40080" y="2743200"/>
          <a:ext cx="635508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7269480" y="2377440"/>
            <a:ext cx="443484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98080" y="251460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БЎЛИМЛАР КЕСИМИДА ЙИЛЛИК РЕЖА (НАФАР)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7360920" y="2697480"/>
          <a:ext cx="4251960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269480" y="5029200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98080" y="51389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ЗАХИРА ТАҚСИМОТИ (НАФАР)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5394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0" y="5870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Пайвандлаш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394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5870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Сифат назорати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5394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CC6B8"/>
                </a:solidFill>
                <a:latin typeface="Segoe UI Light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5870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SKD йиғув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Октябрь ойи: бўлимлар кесимида ишга қабул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Режа ва бажарилиш · 19 бўлим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08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81381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РЕЖА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73</a:t>
            </a:r>
          </a:p>
        </p:txBody>
      </p:sp>
      <p:sp>
        <p:nvSpPr>
          <p:cNvPr id="21" name="!!c2"/>
          <p:cNvSpPr/>
          <p:nvPr/>
        </p:nvSpPr>
        <p:spPr>
          <a:xfrm>
            <a:off x="502920" y="24688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2633472"/>
            <a:ext cx="54864" cy="81381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259689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БАЖАРИЛДИ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81635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49</a:t>
            </a:r>
          </a:p>
        </p:txBody>
      </p:sp>
      <p:sp>
        <p:nvSpPr>
          <p:cNvPr id="25" name="!!c3"/>
          <p:cNvSpPr/>
          <p:nvPr/>
        </p:nvSpPr>
        <p:spPr>
          <a:xfrm>
            <a:off x="502920" y="37490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02920" y="3913632"/>
            <a:ext cx="54864" cy="81381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87705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БАЖАРИЛИШ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9651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3CC6B8"/>
                </a:solidFill>
                <a:latin typeface="Segoe UI Light"/>
              </a:rPr>
              <a:t>67,1%</a:t>
            </a:r>
          </a:p>
        </p:txBody>
      </p:sp>
      <p:sp>
        <p:nvSpPr>
          <p:cNvPr id="29" name="!!c4"/>
          <p:cNvSpPr/>
          <p:nvPr/>
        </p:nvSpPr>
        <p:spPr>
          <a:xfrm>
            <a:off x="502920" y="50292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02920" y="5193792"/>
            <a:ext cx="54864" cy="81381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15721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ҚОЛГАН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7667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24</a:t>
            </a:r>
          </a:p>
        </p:txBody>
      </p:sp>
      <p:graphicFrame>
        <p:nvGraphicFramePr>
          <p:cNvPr id="33" name="!!t1"/>
          <p:cNvGraphicFramePr>
            <a:graphicFrameLocks noGrp="1"/>
          </p:cNvGraphicFramePr>
          <p:nvPr/>
        </p:nvGraphicFramePr>
        <p:xfrm>
          <a:off x="3108960" y="1188720"/>
          <a:ext cx="4206240" cy="502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6499"/>
                <a:gridCol w="2439619"/>
                <a:gridCol w="588874"/>
                <a:gridCol w="84124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№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Бўлим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Режа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Бажарилди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Пайвандлаш цехи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Бўёқлаш цехи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Пластик бўёқлаш цехи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SKD йиғув цехи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CKD йиғув цехи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Сифат назорати ва кафолати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Техник хизмат кўрсатиш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R&amp;D (ME)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R&amp;D (PE)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Бош энергетик бошқармаси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!!t2"/>
          <p:cNvGraphicFramePr>
            <a:graphicFrameLocks noGrp="1"/>
          </p:cNvGraphicFramePr>
          <p:nvPr/>
        </p:nvGraphicFramePr>
        <p:xfrm>
          <a:off x="7498080" y="1188720"/>
          <a:ext cx="4206240" cy="502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6499"/>
                <a:gridCol w="2439619"/>
                <a:gridCol w="588874"/>
                <a:gridCol w="84124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№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Бўлим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Режа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Бажарилди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Tool Shop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R&amp;D (Tooling Center)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8826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ME департаменти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PE департаменти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Ахборот технологиялари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Таъминот тизими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Таъмирлаш ва эксплуатация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Корпоратив овқатланиш ва делегациялар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Хавфсизлик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Жами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73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49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2026-йил ходимларни мослаштириш (адаптация)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Янги ходимларнинг корхонага тез ва самарали мослашувини таъминлаш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09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УМУМИЙ ЖАЛБ ҚИЛИНГАН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1627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37D"/>
                </a:solidFill>
                <a:latin typeface="Segoe UI Semibold"/>
              </a:rPr>
              <a:t>нафар</a:t>
            </a:r>
          </a:p>
        </p:txBody>
      </p:sp>
      <p:sp>
        <p:nvSpPr>
          <p:cNvPr id="22" name="!!c2"/>
          <p:cNvSpPr/>
          <p:nvPr/>
        </p:nvSpPr>
        <p:spPr>
          <a:xfrm>
            <a:off x="2761488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761488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990088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БОШЛАНҒИЧ ҲАФТАДА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1627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3CC6B8"/>
                </a:solidFill>
                <a:latin typeface="Segoe UI Semibold"/>
              </a:rPr>
              <a:t>33%</a:t>
            </a:r>
          </a:p>
        </p:txBody>
      </p:sp>
      <p:sp>
        <p:nvSpPr>
          <p:cNvPr id="27" name="!!c3"/>
          <p:cNvSpPr/>
          <p:nvPr/>
        </p:nvSpPr>
        <p:spPr>
          <a:xfrm>
            <a:off x="5020056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0056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48656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1 ОЙЛИК КУЗАТУВДА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1627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3CC6B8"/>
                </a:solidFill>
                <a:latin typeface="Segoe UI Semibold"/>
              </a:rPr>
              <a:t>39%</a:t>
            </a:r>
          </a:p>
        </p:txBody>
      </p:sp>
      <p:sp>
        <p:nvSpPr>
          <p:cNvPr id="32" name="!!c4"/>
          <p:cNvSpPr/>
          <p:nvPr/>
        </p:nvSpPr>
        <p:spPr>
          <a:xfrm>
            <a:off x="7278624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278624" y="1353312"/>
            <a:ext cx="54864" cy="7223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07224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2 ОЙЛИК КУЗАТУВДА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7224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627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3CC6B8"/>
                </a:solidFill>
                <a:latin typeface="Segoe UI Semibold"/>
              </a:rPr>
              <a:t>28%</a:t>
            </a:r>
          </a:p>
        </p:txBody>
      </p:sp>
      <p:sp>
        <p:nvSpPr>
          <p:cNvPr id="37" name="!!c5"/>
          <p:cNvSpPr/>
          <p:nvPr/>
        </p:nvSpPr>
        <p:spPr>
          <a:xfrm>
            <a:off x="9537192" y="1188720"/>
            <a:ext cx="210312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537192" y="1353312"/>
            <a:ext cx="54864" cy="722376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765792" y="131673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АДАПТАЦИЯДА БЎШАГАН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153619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34472" y="162763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37D"/>
                </a:solidFill>
                <a:latin typeface="Segoe UI Semibold"/>
              </a:rPr>
              <a:t>нафар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37744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adapt1.jpg"/>
          <p:cNvPicPr>
            <a:picLocks noChangeAspect="1"/>
          </p:cNvPicPr>
          <p:nvPr/>
        </p:nvPicPr>
        <p:blipFill>
          <a:blip r:embed="rId3"/>
          <a:srcRect t="25758" b="25758"/>
          <a:stretch>
            <a:fillRect/>
          </a:stretch>
        </p:blipFill>
        <p:spPr>
          <a:xfrm>
            <a:off x="594360" y="2468880"/>
            <a:ext cx="3017520" cy="1097280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62A30"/>
                </a:solidFill>
                <a:latin typeface="Segoe UI Semibold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363016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DEBEB"/>
                </a:solidFill>
                <a:latin typeface="Segoe UI Semibold"/>
              </a:rPr>
              <a:t>Ўқитиш ва таништириш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3886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Дастлабки маълумот ва йўриқномалар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0" y="237744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9" name="Picture 48" descr="adapt2.jpg"/>
          <p:cNvPicPr>
            <a:picLocks noChangeAspect="1"/>
          </p:cNvPicPr>
          <p:nvPr/>
        </p:nvPicPr>
        <p:blipFill>
          <a:blip r:embed="rId4"/>
          <a:srcRect t="25758" b="25758"/>
          <a:stretch>
            <a:fillRect/>
          </a:stretch>
        </p:blipFill>
        <p:spPr>
          <a:xfrm>
            <a:off x="3931920" y="2468880"/>
            <a:ext cx="3017520" cy="1097280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3977640" y="3675888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977640" y="36758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62A30"/>
                </a:solidFill>
                <a:latin typeface="Segoe UI Semibold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363016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DEBEB"/>
                </a:solidFill>
                <a:latin typeface="Segoe UI Semibold"/>
              </a:rPr>
              <a:t>Иш жойи билан танишув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88620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Ишлаб чиқариш ҳудуди ва жараёнлар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361688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adapt3.jpg"/>
          <p:cNvPicPr>
            <a:picLocks noChangeAspect="1"/>
          </p:cNvPicPr>
          <p:nvPr/>
        </p:nvPicPr>
        <p:blipFill>
          <a:blip r:embed="rId5"/>
          <a:srcRect t="25758" b="25758"/>
          <a:stretch>
            <a:fillRect/>
          </a:stretch>
        </p:blipFill>
        <p:spPr>
          <a:xfrm>
            <a:off x="594360" y="4453128"/>
            <a:ext cx="3017520" cy="1097280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640080" y="5660136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0080" y="56601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62A30"/>
                </a:solidFill>
                <a:latin typeface="Segoe UI Semibold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56144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DEBEB"/>
                </a:solidFill>
                <a:latin typeface="Segoe UI Semibold"/>
              </a:rPr>
              <a:t>Ментор билан суҳбат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5870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Мослашув ва масалалар муҳокамаси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40480" y="4361688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adapt4.jpg"/>
          <p:cNvPicPr>
            <a:picLocks noChangeAspect="1"/>
          </p:cNvPicPr>
          <p:nvPr/>
        </p:nvPicPr>
        <p:blipFill>
          <a:blip r:embed="rId6"/>
          <a:srcRect t="25758" b="25758"/>
          <a:stretch>
            <a:fillRect/>
          </a:stretch>
        </p:blipFill>
        <p:spPr>
          <a:xfrm>
            <a:off x="3931920" y="4453128"/>
            <a:ext cx="3017520" cy="1097280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3977640" y="5660136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977640" y="56601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62A30"/>
                </a:solidFill>
                <a:latin typeface="Segoe UI Semibold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561441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DEBEB"/>
                </a:solidFill>
                <a:latin typeface="Segoe UI Semibold"/>
              </a:rPr>
              <a:t>Амалий иш жараёни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5870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Иш жараёнидаги кўникмаларни кузатиш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69480" y="237744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498080" y="24871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АДАПТАЦИЯ БОСҚИЧЛАРИ (НАФАР)</a:t>
            </a:r>
          </a:p>
        </p:txBody>
      </p:sp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7360920" y="2651760"/>
          <a:ext cx="4251960" cy="16002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69" name="Rounded Rectangle 68"/>
          <p:cNvSpPr/>
          <p:nvPr/>
        </p:nvSpPr>
        <p:spPr>
          <a:xfrm>
            <a:off x="7269480" y="4361688"/>
            <a:ext cx="4434840" cy="1947672"/>
          </a:xfrm>
          <a:prstGeom prst="roundRect">
            <a:avLst>
              <a:gd name="adj" fmla="val 375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498080" y="448056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8826E"/>
                </a:solidFill>
                <a:latin typeface="Segoe UI Semibold"/>
              </a:rPr>
              <a:t>АДАПТАЦИЯДА БЎШАШ САБАБЛАРИ · 7 НАФАР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7452360" y="4754880"/>
          <a:ext cx="4069081" cy="1463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5189"/>
                <a:gridCol w="871946"/>
                <a:gridCol w="871946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Сабаб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Сони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Улуши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Оилавий шароит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57%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Соғлиқ туфайли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14%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Бошқа сабаблар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29%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 Semibold"/>
                        </a:rPr>
                        <a:t>Жами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 Semibold"/>
                        </a:rPr>
                        <a:t>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 Semibold"/>
                        </a:rPr>
                        <a:t>100%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2026-йил ишдан бўшаш таҳлили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Ходимлар бўшашининг асосий кўрсаткичлари ва сабаблари · 01.01–01.10.2026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10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716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ЖАМИ БЎШАГАНЛАР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6002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 i="0">
                <a:solidFill>
                  <a:srgbClr val="3CC6B8"/>
                </a:solidFill>
                <a:latin typeface="Segoe UI Light"/>
              </a:rPr>
              <a:t>494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нафар бўшади</a:t>
            </a:r>
          </a:p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01.01 – 01.10.2026</a:t>
            </a:r>
          </a:p>
        </p:txBody>
      </p:sp>
      <p:sp>
        <p:nvSpPr>
          <p:cNvPr id="21" name="!!c2"/>
          <p:cNvSpPr/>
          <p:nvPr/>
        </p:nvSpPr>
        <p:spPr>
          <a:xfrm>
            <a:off x="3337560" y="1188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20440" y="1298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ЛАВОЗИМ БЎЙИЧА (НАФАР)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3383280" y="1481328"/>
          <a:ext cx="260604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!!c3"/>
          <p:cNvSpPr/>
          <p:nvPr/>
        </p:nvSpPr>
        <p:spPr>
          <a:xfrm>
            <a:off x="6153912" y="1188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6792" y="1298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ЯШАШ ЖОЙИ БЎЙИЧА (НАФАР)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199632" y="1481328"/>
          <a:ext cx="260604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!!c4"/>
          <p:cNvSpPr/>
          <p:nvPr/>
        </p:nvSpPr>
        <p:spPr>
          <a:xfrm>
            <a:off x="8970264" y="11887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53144" y="1298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ИШДАН КЕТИШ САБАБЛАРИ (НАФАР)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9015984" y="1481328"/>
          <a:ext cx="260604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502920" y="3840480"/>
            <a:ext cx="2697480" cy="2468880"/>
          </a:xfrm>
          <a:prstGeom prst="roundRect">
            <a:avLst>
              <a:gd name="adj" fmla="val 296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3950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ЁШИ БЎЙИЧА (НАФАР, ЁШ)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48640" y="4160520"/>
          <a:ext cx="2606040" cy="21031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337560" y="3840480"/>
            <a:ext cx="2697480" cy="2468880"/>
          </a:xfrm>
          <a:prstGeom prst="roundRect">
            <a:avLst>
              <a:gd name="adj" fmla="val 296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20440" y="3950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ИШЛАГАН МУДДАТИ БЎЙИЧА (НАФАР, ОЙ)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383280" y="4160520"/>
          <a:ext cx="2606040" cy="21031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72200" y="3840480"/>
            <a:ext cx="2697480" cy="2468880"/>
          </a:xfrm>
          <a:prstGeom prst="roundRect">
            <a:avLst>
              <a:gd name="adj" fmla="val 296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5080" y="3950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ИШДАН БЎШАШ ОЙЛАРИ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4160520"/>
          <a:ext cx="2606040" cy="21031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9006840" y="3840480"/>
            <a:ext cx="2697480" cy="2468880"/>
          </a:xfrm>
          <a:prstGeom prst="roundRect">
            <a:avLst>
              <a:gd name="adj" fmla="val 296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89720" y="3950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КАТЕГОРИЯ БЎЙИЧА (НАФАР)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9052560" y="4160520"/>
          <a:ext cx="2606040" cy="210312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Ходимлар чиқиш суҳбатлари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Дашборд: 2026-йил, амалдаги ҳолат · Ҳисобот даври: 01.01.2026 – 01.09.2026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11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3611880" cy="1005840"/>
          </a:xfrm>
          <a:prstGeom prst="roundRect">
            <a:avLst>
              <a:gd name="adj" fmla="val 727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6766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ЖАМИ ЧИҚИШЛАР (ЁЗУВЛАР)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104</a:t>
            </a:r>
          </a:p>
        </p:txBody>
      </p:sp>
      <p:sp>
        <p:nvSpPr>
          <p:cNvPr id="21" name="!!c2"/>
          <p:cNvSpPr/>
          <p:nvPr/>
        </p:nvSpPr>
        <p:spPr>
          <a:xfrm>
            <a:off x="4270248" y="1188720"/>
            <a:ext cx="3611880" cy="1005840"/>
          </a:xfrm>
          <a:prstGeom prst="roundRect">
            <a:avLst>
              <a:gd name="adj" fmla="val 727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70248" y="1353312"/>
            <a:ext cx="54864" cy="6766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98848" y="1316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ЎРТАЧА УМУМИЙ БАҲО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15361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4,45 / 5</a:t>
            </a:r>
          </a:p>
        </p:txBody>
      </p:sp>
      <p:sp>
        <p:nvSpPr>
          <p:cNvPr id="25" name="!!c3"/>
          <p:cNvSpPr/>
          <p:nvPr/>
        </p:nvSpPr>
        <p:spPr>
          <a:xfrm>
            <a:off x="8037576" y="1188720"/>
            <a:ext cx="3611880" cy="1005840"/>
          </a:xfrm>
          <a:prstGeom prst="roundRect">
            <a:avLst>
              <a:gd name="adj" fmla="val 727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037576" y="1353312"/>
            <a:ext cx="54864" cy="6766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66176" y="1316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ЎРТАЧА ИШ СТАЖИ, КУН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15361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409,1</a:t>
            </a:r>
          </a:p>
        </p:txBody>
      </p:sp>
      <p:sp>
        <p:nvSpPr>
          <p:cNvPr id="29" name="!!c4"/>
          <p:cNvSpPr/>
          <p:nvPr/>
        </p:nvSpPr>
        <p:spPr>
          <a:xfrm>
            <a:off x="502920" y="23317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245059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КЕТИШ САБАБЛАРИ (ЖАМИ 104)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48640" y="2651760"/>
          <a:ext cx="35661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297680" y="233172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26280" y="245059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БЎЛИМЛАР БЎЙИЧА (НАФАР)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343400" y="2651760"/>
          <a:ext cx="3566160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8092440" y="233172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245059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ОЙЛАР БЎЙИЧА (НАФАР)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8138160" y="2606040"/>
          <a:ext cx="3520440" cy="153619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8092440" y="429768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21040" y="440740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ИШ ЖАРАЁНИГА БАҲОЛАР (5 БАЛЛДАН)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645152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Маош ва мукофотлар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8360" y="4733757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9738360" y="4733757"/>
            <a:ext cx="1044611" cy="55961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1274552" y="4645152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3,57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78324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Карьера ўсиши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4966929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9738360" y="4966929"/>
            <a:ext cx="1249436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1274552" y="4878324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111496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Иш юкламаси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0" y="5200101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9738360" y="5200101"/>
            <a:ext cx="1319662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1274552" y="5111496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344668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Ички коммуникация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5433273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9738360" y="5433273"/>
            <a:ext cx="1360627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1274552" y="5344668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577840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Раҳбар услуби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8360" y="5666445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9738360" y="5666445"/>
            <a:ext cx="1360627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1274552" y="5577840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811012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Жамоа муҳити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60" y="5899617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9738360" y="5899617"/>
            <a:ext cx="1384036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1274552" y="5811012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6044184"/>
            <a:ext cx="13258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Иш шароитлари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8360" y="6132789"/>
            <a:ext cx="1463040" cy="55961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9738360" y="6132789"/>
            <a:ext cx="1389888" cy="55961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1274552" y="6044184"/>
            <a:ext cx="36576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4,75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Чиқиш суҳбатлари: хулосалар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Қайта ишлаш истаги ва асосий хулосалар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12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3931920" cy="5120640"/>
          </a:xfrm>
          <a:prstGeom prst="roundRect">
            <a:avLst>
              <a:gd name="adj" fmla="val 186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71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ҚАЙТА ИШЛАШ ИСТАГИ (N = 57)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77240" y="1691640"/>
          <a:ext cx="21945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77240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0">
                <a:solidFill>
                  <a:srgbClr val="EDEBEB"/>
                </a:solidFill>
                <a:latin typeface="Segoe UI Light"/>
              </a:rPr>
              <a:t>89,5%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880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тайёр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1856232"/>
            <a:ext cx="109728" cy="10972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91840" y="1783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 Light"/>
              </a:rPr>
              <a:t>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011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63,2%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359152"/>
            <a:ext cx="109728" cy="109728"/>
          </a:xfrm>
          <a:prstGeom prst="rect">
            <a:avLst/>
          </a:prstGeom>
          <a:solidFill>
            <a:srgbClr val="7FD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291840" y="2286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 Light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26,3%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862072"/>
            <a:ext cx="109728" cy="109728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91840" y="27889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 Light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017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7,0%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364992"/>
            <a:ext cx="109728" cy="109728"/>
          </a:xfrm>
          <a:prstGeom prst="rect">
            <a:avLst/>
          </a:prstGeom>
          <a:solidFill>
            <a:srgbClr val="6B7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91840" y="3291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DEBEB"/>
                </a:solidFill>
                <a:latin typeface="Segoe UI Ligh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520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3,5%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31520" y="4114800"/>
          <a:ext cx="3474720" cy="1975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73152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3CC6B8"/>
                          </a:solidFill>
                          <a:latin typeface="Segoe UI Semibold"/>
                        </a:rPr>
                        <a:t>Жавоб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 Semibold"/>
                        </a:rPr>
                        <a:t>Сони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3CC6B8"/>
                          </a:solidFill>
                          <a:latin typeface="Segoe UI Semibold"/>
                        </a:rPr>
                        <a:t>Улуши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Ҳа, истар эдим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63,2%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Эҳтимол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26,3%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Йўқ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7,0%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Билмайман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"/>
                        </a:rPr>
                        <a:t>3,5%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Жами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57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EDEBEB"/>
                          </a:solidFill>
                          <a:latin typeface="Segoe UI Semibold"/>
                        </a:rPr>
                        <a:t>100%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</a:tr>
            </a:tbl>
          </a:graphicData>
        </a:graphic>
      </p:graphicFrame>
      <p:sp>
        <p:nvSpPr>
          <p:cNvPr id="35" name="!!c2"/>
          <p:cNvSpPr/>
          <p:nvPr/>
        </p:nvSpPr>
        <p:spPr>
          <a:xfrm>
            <a:off x="4617720" y="1188720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846320" y="1444752"/>
            <a:ext cx="402336" cy="40233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46320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1298448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"/>
              </a:rPr>
              <a:t>Асосий сабаблар: билдирги билан кетиш (27), юқори маошли иш таклифи (23), оилавий сабаблар (19); жами 69 та (66,3%)</a:t>
            </a:r>
          </a:p>
        </p:txBody>
      </p:sp>
      <p:sp>
        <p:nvSpPr>
          <p:cNvPr id="39" name="!!c3"/>
          <p:cNvSpPr/>
          <p:nvPr/>
        </p:nvSpPr>
        <p:spPr>
          <a:xfrm>
            <a:off x="4617720" y="2231136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846320" y="2487168"/>
            <a:ext cx="402336" cy="40233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46320" y="24871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2340864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"/>
              </a:rPr>
              <a:t>Энг кўп чиқиш: Пайвандлаш (29) ва SKD йиғув (25), жами 54 та (51,9%)</a:t>
            </a:r>
          </a:p>
        </p:txBody>
      </p:sp>
      <p:sp>
        <p:nvSpPr>
          <p:cNvPr id="43" name="!!c4"/>
          <p:cNvSpPr/>
          <p:nvPr/>
        </p:nvSpPr>
        <p:spPr>
          <a:xfrm>
            <a:off x="4617720" y="3273552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846320" y="3529584"/>
            <a:ext cx="402336" cy="40233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846320" y="352958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383280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"/>
              </a:rPr>
              <a:t>Сентябрда 72 та чиқиш қайд этилган: йилдаги энг юқори кўрсаткич (69,2%)</a:t>
            </a:r>
          </a:p>
        </p:txBody>
      </p:sp>
      <p:sp>
        <p:nvSpPr>
          <p:cNvPr id="47" name="!!c5"/>
          <p:cNvSpPr/>
          <p:nvPr/>
        </p:nvSpPr>
        <p:spPr>
          <a:xfrm>
            <a:off x="4617720" y="4315968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4846320" y="4572000"/>
            <a:ext cx="402336" cy="40233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846320" y="457200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4425696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"/>
              </a:rPr>
              <a:t>Энг паст баҳоланган йўналиш: маош ва мукофотлар тизими (3,57/5)</a:t>
            </a:r>
          </a:p>
        </p:txBody>
      </p:sp>
      <p:sp>
        <p:nvSpPr>
          <p:cNvPr id="51" name="!!c6"/>
          <p:cNvSpPr/>
          <p:nvPr/>
        </p:nvSpPr>
        <p:spPr>
          <a:xfrm>
            <a:off x="4617720" y="5358384"/>
            <a:ext cx="7086600" cy="914400"/>
          </a:xfrm>
          <a:prstGeom prst="roundRect">
            <a:avLst>
              <a:gd name="adj" fmla="val 8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4846320" y="5614416"/>
            <a:ext cx="402336" cy="402336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846320" y="561441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5468112"/>
            <a:ext cx="6080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"/>
              </a:rPr>
              <a:t>Қайта ишлашга тайёрлар: 51 нафар (57 жавобнинг 89,5%), бу ходимлар захирасини шакллантириш имконини беради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Лавозим турлари бўйича бошқа лавозимга ўтиш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Жами: 341 нафар, 90 хил лавозим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13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5120640"/>
          </a:xfrm>
          <a:prstGeom prst="roundRect">
            <a:avLst>
              <a:gd name="adj" fmla="val 271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" y="1325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CC6B8"/>
                </a:solidFill>
                <a:latin typeface="Segoe UI Semibold"/>
              </a:rPr>
              <a:t>Ишлаб чиқариш ходимлари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EDEBEB"/>
                </a:solidFill>
                <a:latin typeface="Segoe UI Light"/>
              </a:rPr>
              <a:t>261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нафар · 76,5% · 45 хил лавозим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2724912"/>
            <a:ext cx="2286000" cy="64008"/>
          </a:xfrm>
          <a:prstGeom prst="roundRect">
            <a:avLst>
              <a:gd name="adj" fmla="val 42857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4088" y="2724912"/>
            <a:ext cx="1748790" cy="64008"/>
          </a:xfrm>
          <a:prstGeom prst="roundRect">
            <a:avLst>
              <a:gd name="adj" fmla="val 42857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4088" y="2971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Контактли пайвандлаш машиналари пайвандчиси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971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" y="3264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04088" y="32644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4088" y="34290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Сифат назорати инспектори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4290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32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" y="37216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04088" y="3721608"/>
            <a:ext cx="1662545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4088" y="38862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Бригадир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8862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" y="41788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04088" y="4178808"/>
            <a:ext cx="1506682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4088" y="43434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Бутловчи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343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" y="46360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04088" y="4636008"/>
            <a:ext cx="1350818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4088" y="48006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Омборчи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8006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" y="50932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04088" y="5093208"/>
            <a:ext cx="883227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04088" y="5257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Мастер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257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" y="5550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04088" y="5550408"/>
            <a:ext cx="727364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04088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Қолган 39 лавозим — 99 нафар</a:t>
            </a:r>
          </a:p>
        </p:txBody>
      </p:sp>
      <p:sp>
        <p:nvSpPr>
          <p:cNvPr id="48" name="!!c2"/>
          <p:cNvSpPr/>
          <p:nvPr/>
        </p:nvSpPr>
        <p:spPr>
          <a:xfrm>
            <a:off x="3337560" y="1188720"/>
            <a:ext cx="2697480" cy="5120640"/>
          </a:xfrm>
          <a:prstGeom prst="roundRect">
            <a:avLst>
              <a:gd name="adj" fmla="val 271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538728" y="1325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CC6B8"/>
                </a:solidFill>
                <a:latin typeface="Segoe UI Semibold"/>
              </a:rPr>
              <a:t>Мутахассислар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38728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EDEBEB"/>
                </a:solidFill>
                <a:latin typeface="Segoe UI Light"/>
              </a:rPr>
              <a:t>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38728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нафар · 12,6% · 27 хил лавозим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38728" y="2724912"/>
            <a:ext cx="2286000" cy="64008"/>
          </a:xfrm>
          <a:prstGeom prst="roundRect">
            <a:avLst>
              <a:gd name="adj" fmla="val 42857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3538728" y="2724912"/>
            <a:ext cx="288036" cy="64008"/>
          </a:xfrm>
          <a:prstGeom prst="roundRect">
            <a:avLst>
              <a:gd name="adj" fmla="val 42857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538728" y="2971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Харид бўйича муҳандис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2971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38728" y="3264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38728" y="32644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538728" y="34290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Муҳандис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0680" y="34290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38728" y="37216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538728" y="37216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538728" y="38862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Таъминот омбори мудири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40680" y="38862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38728" y="41788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3538728" y="41788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538728" y="43434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Омбор мудири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38728" y="46360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3538728" y="4636008"/>
            <a:ext cx="17145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538728" y="48006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Муҳандис технолог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0680" y="48006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38728" y="50932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538728" y="5093208"/>
            <a:ext cx="17145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538728" y="5257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Табел юритувчи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80" y="5257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38728" y="5550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538728" y="5550408"/>
            <a:ext cx="1143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38728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Қолган 21 лавозим — 23 нафар</a:t>
            </a:r>
          </a:p>
        </p:txBody>
      </p:sp>
      <p:sp>
        <p:nvSpPr>
          <p:cNvPr id="79" name="!!c3"/>
          <p:cNvSpPr/>
          <p:nvPr/>
        </p:nvSpPr>
        <p:spPr>
          <a:xfrm>
            <a:off x="6172200" y="1188720"/>
            <a:ext cx="2697480" cy="5120640"/>
          </a:xfrm>
          <a:prstGeom prst="roundRect">
            <a:avLst>
              <a:gd name="adj" fmla="val 271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373368" y="1325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CC6B8"/>
                </a:solidFill>
                <a:latin typeface="Segoe UI Semibold"/>
              </a:rPr>
              <a:t>Бошқарув ходимлари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73368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EDEBEB"/>
                </a:solidFill>
                <a:latin typeface="Segoe UI Light"/>
              </a:rPr>
              <a:t>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73368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нафар · 7,3% · 8 хил лавозим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73368" y="2724912"/>
            <a:ext cx="2286000" cy="64008"/>
          </a:xfrm>
          <a:prstGeom prst="roundRect">
            <a:avLst>
              <a:gd name="adj" fmla="val 42857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6373368" y="2724912"/>
            <a:ext cx="166878" cy="64008"/>
          </a:xfrm>
          <a:prstGeom prst="roundRect">
            <a:avLst>
              <a:gd name="adj" fmla="val 42857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373368" y="2971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Бўлинма бошлиғи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5320" y="2971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73368" y="3264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6373368" y="32644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6373368" y="34290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Бўлим бошлиғи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5320" y="34290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73368" y="37216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6373368" y="3721608"/>
            <a:ext cx="489857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373368" y="38862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Бўлим бошлиғи ўринбосари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38862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73368" y="41788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6373368" y="4178808"/>
            <a:ext cx="326571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373368" y="43434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Хизмат бошлиғи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4343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73368" y="46360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6373368" y="4636008"/>
            <a:ext cx="326571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373368" y="48006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Директор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48006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73368" y="50932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6373368" y="5093208"/>
            <a:ext cx="163286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373368" y="5257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Бош директор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5257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73368" y="5550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6373368" y="5550408"/>
            <a:ext cx="163286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6373368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Қолган 2 лавозим — 2 нафар</a:t>
            </a:r>
          </a:p>
        </p:txBody>
      </p:sp>
      <p:sp>
        <p:nvSpPr>
          <p:cNvPr id="110" name="!!c4"/>
          <p:cNvSpPr/>
          <p:nvPr/>
        </p:nvSpPr>
        <p:spPr>
          <a:xfrm>
            <a:off x="9006840" y="1188720"/>
            <a:ext cx="2697480" cy="5120640"/>
          </a:xfrm>
          <a:prstGeom prst="roundRect">
            <a:avLst>
              <a:gd name="adj" fmla="val 271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9208008" y="1325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CC6B8"/>
                </a:solidFill>
                <a:latin typeface="Segoe UI Semibold"/>
              </a:rPr>
              <a:t>Техник ходимлар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08008" y="15727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EDEBEB"/>
                </a:solidFill>
                <a:latin typeface="Segoe UI Light"/>
              </a:rPr>
              <a:t>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08008" y="2395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нафар · 3,5% · 10 хил лавозим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208008" y="2724912"/>
            <a:ext cx="2286000" cy="64008"/>
          </a:xfrm>
          <a:prstGeom prst="roundRect">
            <a:avLst>
              <a:gd name="adj" fmla="val 42857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9208008" y="2724912"/>
            <a:ext cx="80010" cy="64008"/>
          </a:xfrm>
          <a:prstGeom prst="roundRect">
            <a:avLst>
              <a:gd name="adj" fmla="val 42857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208008" y="2971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Ҳайдовчи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09960" y="2971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08008" y="3264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9208008" y="32644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9208008" y="34290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Ошхона ишчиси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09960" y="34290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08008" y="37216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9208008" y="3721608"/>
            <a:ext cx="2286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9208008" y="38862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Оператор (видеокузатув)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09960" y="38862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208008" y="41788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9208008" y="4178808"/>
            <a:ext cx="1143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9208008" y="43434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Ёнғин ўчирувчи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09960" y="4343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208008" y="46360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9208008" y="4636008"/>
            <a:ext cx="1143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208008" y="48006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Электрчи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09960" y="48006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208008" y="50932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9208008" y="5093208"/>
            <a:ext cx="1143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9208008" y="52578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Офис тозаловчи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109960" y="52578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DEBEB"/>
                </a:solidFill>
                <a:latin typeface="Segoe UI Semibold"/>
              </a:rPr>
              <a:t>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208008" y="5550408"/>
            <a:ext cx="2286000" cy="45720"/>
          </a:xfrm>
          <a:prstGeom prst="rect">
            <a:avLst/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9208008" y="5550408"/>
            <a:ext cx="1143000" cy="45720"/>
          </a:xfrm>
          <a:prstGeom prst="rect">
            <a:avLst/>
          </a:prstGeom>
          <a:solidFill>
            <a:srgbClr val="5E9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208008" y="5852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Қолган 4 лавозим — 4 нафар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01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Бошқа лавозимга ўтган ходимлар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Жами: 341 нафар, 90 хил лавозим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14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6949440" cy="4572000"/>
          </a:xfrm>
          <a:prstGeom prst="roundRect">
            <a:avLst>
              <a:gd name="adj" fmla="val 16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ЭНГ КЎП ЎТИЛГАН ЛАВОЗИМЛАР, НАФАР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94360" y="1554480"/>
          <a:ext cx="676656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!!c2"/>
          <p:cNvSpPr/>
          <p:nvPr/>
        </p:nvSpPr>
        <p:spPr>
          <a:xfrm>
            <a:off x="7589520" y="1188720"/>
            <a:ext cx="4114800" cy="4572000"/>
          </a:xfrm>
          <a:prstGeom prst="roundRect">
            <a:avLst>
              <a:gd name="adj" fmla="val 177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18120" y="1325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ҚОЛГАН 81 ЛАВОЗИМ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55448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EDEBEB"/>
                </a:solidFill>
                <a:latin typeface="Segoe UI Light"/>
              </a:rPr>
              <a:t>147</a:t>
            </a:r>
            <a:r>
              <a:rPr sz="1200" b="0" i="0">
                <a:solidFill>
                  <a:srgbClr val="9AA2AC"/>
                </a:solidFill>
                <a:latin typeface="Segoe UI"/>
              </a:rPr>
              <a:t>  нафар · 43%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377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Ҳар бир лавозимдан ўтганлар: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697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1 нафардан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8712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006840" y="28712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680192" y="2697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49 лав.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1546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2 нафардан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33284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006840" y="3328416"/>
            <a:ext cx="522514" cy="109728"/>
          </a:xfrm>
          <a:prstGeom prst="roundRect">
            <a:avLst>
              <a:gd name="adj" fmla="val 41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680192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16 лав.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6118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3 нафардан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7856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9006840" y="3785616"/>
            <a:ext cx="195943" cy="109728"/>
          </a:xfrm>
          <a:prstGeom prst="roundRect">
            <a:avLst>
              <a:gd name="adj" fmla="val 41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680192" y="361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6 лав.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0690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4 нафардан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2428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006840" y="4242816"/>
            <a:ext cx="163286" cy="109728"/>
          </a:xfrm>
          <a:prstGeom prst="roundRect">
            <a:avLst>
              <a:gd name="adj" fmla="val 41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680192" y="40690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5 лав.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5262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5 нафардан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40" y="47000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9006840" y="4700016"/>
            <a:ext cx="65314" cy="109728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680192" y="45262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2 лав.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49834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6 нафардан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06840" y="5157216"/>
            <a:ext cx="1600200" cy="109728"/>
          </a:xfrm>
          <a:prstGeom prst="roundRect">
            <a:avLst>
              <a:gd name="adj" fmla="val 41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9006840" y="5157216"/>
            <a:ext cx="97971" cy="109728"/>
          </a:xfrm>
          <a:prstGeom prst="roundRect">
            <a:avLst>
              <a:gd name="adj" fmla="val 46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680192" y="4983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3 лав.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Манба: Ходимлар рўйхати. Бошқа лавозимга ўтган — ҳозирги лавозимга ўтган санаси ишга қабул санасидан кейин бўлган ходим; 2026 йил октябрь ойи ҳисобга олинмаган.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Самарадорлик ва KPI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Қўшимча иш соатлари, HPV ишлаб чиқариш самарадорлиги ва ишчи-ходимлар KPI таҳлили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Қўшимча иш соатлари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2026 январь – сентябрь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16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512064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ЭНГ КЎП ҚЎШИМЧА СОАТ ИШЛАГАН БЎЛИМЛАР (СОАТ)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94360" y="1554480"/>
          <a:ext cx="493776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1520" y="4069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ОЙЛАР КЕСИМИДА (СОАТ)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94360" y="4251960"/>
          <a:ext cx="493776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!!c2"/>
          <p:cNvSpPr/>
          <p:nvPr/>
        </p:nvSpPr>
        <p:spPr>
          <a:xfrm>
            <a:off x="5760720" y="1188720"/>
            <a:ext cx="594360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9320" y="13258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ОЙЛАР КЕСИМИДА: СОАТ ВА СУММА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989320" y="1645920"/>
          <a:ext cx="5486400" cy="44256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25600"/>
                <a:gridCol w="1422400"/>
                <a:gridCol w="243840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Ой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Соат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Сумма, сўм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Январь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62 463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3 516 876 029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Февраль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39 538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2 048 147 543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Март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36 519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2 104 087 894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Апрель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83 670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4 512 395 252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Май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24 857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2 884 260 424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Июнь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Июль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1 546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71 263 167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Август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1 546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399 693 155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Сентабр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10 810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665 395 786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 Semibold"/>
                        </a:rPr>
                        <a:t>Жами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 Semibold"/>
                        </a:rPr>
                        <a:t>260 949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EDEBEB"/>
                          </a:solidFill>
                          <a:latin typeface="Segoe UI Semibold"/>
                        </a:rPr>
                        <a:t>16 202 119 250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363C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HPV ишлаб чиқариш самарадорлиги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Август ойи · паст кўрсаткич = юқори самарадорлик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17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" y="13258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CKD ЦЕХИ · АВГУСТ HPV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572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режа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17556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9AA2AC"/>
                </a:solidFill>
                <a:latin typeface="Segoe UI Light"/>
              </a:rPr>
              <a:t>119,6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1572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факт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17556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25146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088" y="25146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3CC6B8"/>
                </a:solidFill>
                <a:latin typeface="Segoe UI Semibold"/>
              </a:rPr>
              <a:t>▼ 19,6% га яхши</a:t>
            </a:r>
          </a:p>
        </p:txBody>
      </p:sp>
      <p:sp>
        <p:nvSpPr>
          <p:cNvPr id="25" name="!!c2"/>
          <p:cNvSpPr/>
          <p:nvPr/>
        </p:nvSpPr>
        <p:spPr>
          <a:xfrm>
            <a:off x="3383280" y="118872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84448" y="13258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SKD ЦЕХИ · АВГУСТ HPV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1572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режа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17556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9AA2AC"/>
                </a:solidFill>
                <a:latin typeface="Segoe UI Light"/>
              </a:rPr>
              <a:t>23,8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5727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факт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5564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21,2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25146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251460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3CC6B8"/>
                </a:solidFill>
                <a:latin typeface="Segoe UI Semibold"/>
              </a:rPr>
              <a:t>▼ 12,2% га яхши</a:t>
            </a:r>
          </a:p>
        </p:txBody>
      </p:sp>
      <p:sp>
        <p:nvSpPr>
          <p:cNvPr id="33" name="!!c3"/>
          <p:cNvSpPr/>
          <p:nvPr/>
        </p:nvSpPr>
        <p:spPr>
          <a:xfrm>
            <a:off x="502920" y="3200400"/>
            <a:ext cx="2743200" cy="3108960"/>
          </a:xfrm>
          <a:prstGeom prst="roundRect">
            <a:avLst>
              <a:gd name="adj" fmla="val 266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4088" y="33101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CKD ЦЕХИ, ИЮЛЬ–СЕНТЯБРЬ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48640" y="3520440"/>
          <a:ext cx="265176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!!c4"/>
          <p:cNvSpPr/>
          <p:nvPr/>
        </p:nvSpPr>
        <p:spPr>
          <a:xfrm>
            <a:off x="3383280" y="3200400"/>
            <a:ext cx="2743200" cy="3108960"/>
          </a:xfrm>
          <a:prstGeom prst="roundRect">
            <a:avLst>
              <a:gd name="adj" fmla="val 266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84448" y="33101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SKD ЦЕХИ, ИЮЛЬ–СЕНТЯБРЬ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3429000" y="3520440"/>
          <a:ext cx="265176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6263640" y="1188720"/>
            <a:ext cx="544068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92240" y="13258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АВГУСТ ОЙИ HPV (14 UPH)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492240" y="1645920"/>
          <a:ext cx="4983480" cy="42793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27259"/>
                <a:gridCol w="915333"/>
                <a:gridCol w="915333"/>
                <a:gridCol w="152555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Цех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Режа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Факт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 Semibold"/>
                        </a:rPr>
                        <a:t>Ҳолат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Welding shop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26,89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26,9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Paint shop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14,57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14,6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GA shop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13,7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13,7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ME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1,15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8826E"/>
                          </a:solidFill>
                          <a:latin typeface="Segoe UI"/>
                        </a:rPr>
                        <a:t>5,9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8826E"/>
                          </a:solidFill>
                          <a:latin typeface="Segoe UI"/>
                        </a:rPr>
                        <a:t>Режадан юқори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Terminal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2,26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2,2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Supply chain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30,44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23,8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Maintenance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6,46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5,9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18,72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EDEBEB"/>
                          </a:solidFill>
                          <a:latin typeface="Segoe UI"/>
                        </a:rPr>
                        <a:t>11,3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CC6B8"/>
                          </a:solidFill>
                          <a:latin typeface="Segoe UI"/>
                        </a:rPr>
                        <a:t>Режадан яхши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Ишчи-ходимлар KPI таҳлили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АДМ Жиззах · 2026 йил январь – сентябрь (9 ой) · ўртача ~1 930 ходим/ой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18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9509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ЎРТАЧА KPI (СЕНТЯБРЬ)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19,7%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396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Январь 20,1%, август 20,4%</a:t>
            </a:r>
          </a:p>
        </p:txBody>
      </p:sp>
      <p:sp>
        <p:nvSpPr>
          <p:cNvPr id="22" name="!!c2"/>
          <p:cNvSpPr/>
          <p:nvPr/>
        </p:nvSpPr>
        <p:spPr>
          <a:xfrm>
            <a:off x="3337560" y="11887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337560" y="1353312"/>
            <a:ext cx="54864" cy="9509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56616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МАҚСАДГА ЭРИШИШ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53619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87,9%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1396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Режага нисбатан, март–сентябрь</a:t>
            </a:r>
          </a:p>
        </p:txBody>
      </p:sp>
      <p:sp>
        <p:nvSpPr>
          <p:cNvPr id="27" name="!!c3"/>
          <p:cNvSpPr/>
          <p:nvPr/>
        </p:nvSpPr>
        <p:spPr>
          <a:xfrm>
            <a:off x="6172200" y="11887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72200" y="1353312"/>
            <a:ext cx="54864" cy="95097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ХОДИМЛАР СОНИ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2 002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396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Январда 1 864 эди (+138)</a:t>
            </a:r>
          </a:p>
        </p:txBody>
      </p:sp>
      <p:sp>
        <p:nvSpPr>
          <p:cNvPr id="32" name="!!c4"/>
          <p:cNvSpPr/>
          <p:nvPr/>
        </p:nvSpPr>
        <p:spPr>
          <a:xfrm>
            <a:off x="9006840" y="11887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06840" y="1353312"/>
            <a:ext cx="54864" cy="950976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3544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ДОИМИЙ ПАСТ НАТИЖА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53619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28 киши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1396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9 ойлик ўртача KPI 8% дан паст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6060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271576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ОЙЛИК ЎРТАЧА KPI ДИНАМИКАСИ, %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48640" y="2880360"/>
          <a:ext cx="35661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4297680" y="26060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26280" y="271576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ХОДИМЛАР СОНИ, ОЙ ОХИРИГА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43400" y="2880360"/>
          <a:ext cx="356616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8092440" y="2606040"/>
            <a:ext cx="3611880" cy="3703320"/>
          </a:xfrm>
          <a:prstGeom prst="roundRect">
            <a:avLst>
              <a:gd name="adj" fmla="val 202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21040" y="271576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ЛАВОЗИМЛАР БЎЙИЧА ЎРТАЧА KPI,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Автобус ҳайдовчиси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21240" y="3095153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9921240" y="3095153"/>
            <a:ext cx="1258824" cy="77907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274552" y="2971800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29,5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296412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Оператор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21240" y="3419765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9921240" y="3419765"/>
            <a:ext cx="1002792" cy="77907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274552" y="3296412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23,5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621024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Чиқинди саралаш ишчиси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21240" y="3744377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9921240" y="3744377"/>
            <a:ext cx="989990" cy="77907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1274552" y="3621024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23,2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945636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Герметизаторчи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21240" y="4068989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9921240" y="4068989"/>
            <a:ext cx="989990" cy="77907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1274552" y="3945636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23,2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270248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Ҳисобчи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21240" y="4393601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9921240" y="4393601"/>
            <a:ext cx="985723" cy="77907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1274552" y="4270248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23,1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594860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Сифат назорати инспектори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21240" y="4718213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9921240" y="4718213"/>
            <a:ext cx="823570" cy="77907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274552" y="4594860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19,3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4919472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Йиғув ишлари чилангари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21240" y="5042825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9921240" y="5042825"/>
            <a:ext cx="635813" cy="77907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274552" y="4919472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14,9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5244084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Ҳайдовчи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21240" y="5367437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921240" y="5367437"/>
            <a:ext cx="623011" cy="77907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1274552" y="5244084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14,6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21040" y="5568696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Қўриқчи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21240" y="5692049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9921240" y="5692049"/>
            <a:ext cx="605942" cy="77907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1274552" y="5568696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14,2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5893308"/>
            <a:ext cx="1508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"/>
              </a:rPr>
              <a:t>Ошхона ишчиси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21240" y="6016661"/>
            <a:ext cx="1280160" cy="77907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9921240" y="6016661"/>
            <a:ext cx="546202" cy="77907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1274552" y="5893308"/>
            <a:ext cx="3657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DEBEB"/>
                </a:solidFill>
                <a:latin typeface="Segoe UI Semibold"/>
              </a:rPr>
              <a:t>12,8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5257800"/>
            <a:ext cx="7452360" cy="1051560"/>
          </a:xfrm>
          <a:prstGeom prst="roundRect">
            <a:avLst>
              <a:gd name="adj" fmla="val 695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502920" y="5257800"/>
            <a:ext cx="54864" cy="10515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31520" y="5330952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Хулоса: </a:t>
            </a:r>
            <a:r>
              <a:rPr sz="900" b="0" i="0">
                <a:solidFill>
                  <a:srgbClr val="EDEBEB"/>
                </a:solidFill>
                <a:latin typeface="Segoe UI"/>
              </a:rPr>
              <a:t>KPI 9 ой давомида барқарор (~19–20%), мақсадга эришиш ўртача 87,9%, лекин ҳар ойда ходимларнинг ~11–18% и режанинг ярмига ҳам етмаяпти. Ходимлар сони 9 ойда +138 нафарга кўпайди (285 нафар кетди, 423 нафар қабул қилинди). Энг паст натижа хизмат кўрсатиш ва ҳайдовчилик лавозимларида, энг юқориси автобус ҳайдовчиси, оператор ва омбор лавозимларида.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02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Хронометраж: 13 штат бирлигидан 9 таси камаювчи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Бўёқлаш, Пайвандлаш, Йиғув цехлари ва Таъминот тизими · бандлик 460 дақиқалик иш кунига нисбатан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19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786384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ШТАТ БИРЛИГИ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751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хронометраж қилинди</a:t>
            </a:r>
          </a:p>
        </p:txBody>
      </p:sp>
      <p:sp>
        <p:nvSpPr>
          <p:cNvPr id="22" name="!!c2"/>
          <p:cNvSpPr/>
          <p:nvPr/>
        </p:nvSpPr>
        <p:spPr>
          <a:xfrm>
            <a:off x="502920" y="2432304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2920" y="2596896"/>
            <a:ext cx="54864" cy="786384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2560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КАМАЮВЧИ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9776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186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бандлиги 70% дан паст</a:t>
            </a:r>
          </a:p>
        </p:txBody>
      </p:sp>
      <p:sp>
        <p:nvSpPr>
          <p:cNvPr id="27" name="!!c3"/>
          <p:cNvSpPr/>
          <p:nvPr/>
        </p:nvSpPr>
        <p:spPr>
          <a:xfrm>
            <a:off x="502920" y="367588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920" y="3840480"/>
            <a:ext cx="54864" cy="786384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80390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САҚЛАНАДИ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6227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бандлиги 70% ва юқори</a:t>
            </a:r>
          </a:p>
        </p:txBody>
      </p:sp>
      <p:sp>
        <p:nvSpPr>
          <p:cNvPr id="32" name="!!c4"/>
          <p:cNvSpPr/>
          <p:nvPr/>
        </p:nvSpPr>
        <p:spPr>
          <a:xfrm>
            <a:off x="502920" y="4919472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02920" y="5084064"/>
            <a:ext cx="54864" cy="786384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1520" y="50474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ЧЕГАРА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66944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DEBEB"/>
                </a:solidFill>
                <a:latin typeface="Segoe UI Light"/>
              </a:rPr>
              <a:t>322 дақ.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058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460 дақиқанинг 70%и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1188720"/>
            <a:ext cx="841248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20440" y="12984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ЦЕХ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1298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ШТАТ БИРЛИГИ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298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БАНДЛИК (460 ДАҚ. = 100%)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1572768"/>
            <a:ext cx="1554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Бўёқлаш цехи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1572768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Материаллар бўйича муҳандис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1682496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8321040" y="1682496"/>
            <a:ext cx="685526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634472" y="1572768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30,6% · 141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187452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Материаллар бўйича муҳандис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1984248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321040" y="1984248"/>
            <a:ext cx="943158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634472" y="1874520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42,1% · 194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2176272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Омбор мудири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2286000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8321040" y="2286000"/>
            <a:ext cx="685526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634472" y="2176272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30,6% · 141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2478024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Омбор мудири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2587752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8321040" y="2587752"/>
            <a:ext cx="943158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634472" y="2478024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42,1% · 194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2761488"/>
            <a:ext cx="8001000" cy="9144"/>
          </a:xfrm>
          <a:prstGeom prst="rect">
            <a:avLst/>
          </a:prstGeom>
          <a:solidFill>
            <a:srgbClr val="43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520440" y="2779776"/>
            <a:ext cx="1554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Пайвандлаш цехи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0" y="2779776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Ҳужжатлар регистратори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1040" y="2889504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8321040" y="2889504"/>
            <a:ext cx="974522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0634472" y="2779776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43,5% · 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3081528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Муҳандис ЖИГ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21040" y="3191256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321040" y="3191256"/>
            <a:ext cx="690006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634472" y="3081528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30,8% · 142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0" y="338328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Комплектация бўйича муҳандис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21040" y="3493008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8321040" y="3493008"/>
            <a:ext cx="1070854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634472" y="3383280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47,8% · 220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3685032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Комплектация бўйича муҳандис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21040" y="3794760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8321040" y="3794760"/>
            <a:ext cx="660883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634472" y="3685032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29,5% · 136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20440" y="3968496"/>
            <a:ext cx="8001000" cy="9144"/>
          </a:xfrm>
          <a:prstGeom prst="rect">
            <a:avLst/>
          </a:prstGeom>
          <a:solidFill>
            <a:srgbClr val="43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520440" y="3986784"/>
            <a:ext cx="1554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Йиғув цехи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3986784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Жиҳоз устаси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21040" y="4096512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8321040" y="4096512"/>
            <a:ext cx="887151" cy="100584"/>
          </a:xfrm>
          <a:prstGeom prst="roundRect">
            <a:avLst>
              <a:gd name="adj" fmla="val 45454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0634472" y="3986784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39,6% · 190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20640" y="4288536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Комплектация бўйича муҳандис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21040" y="4398264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8321040" y="4398264"/>
            <a:ext cx="1597320" cy="100584"/>
          </a:xfrm>
          <a:prstGeom prst="roundRect">
            <a:avLst>
              <a:gd name="adj" fmla="val 45454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0634472" y="4288536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71,3% · 328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20440" y="4572000"/>
            <a:ext cx="8001000" cy="9144"/>
          </a:xfrm>
          <a:prstGeom prst="rect">
            <a:avLst/>
          </a:prstGeom>
          <a:solidFill>
            <a:srgbClr val="434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3520440" y="4590288"/>
            <a:ext cx="1554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Таъминот тизими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4590288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КД деталлари моддий оқимини таҳлил қилиш муҳандиси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21040" y="4700016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8321040" y="4700016"/>
            <a:ext cx="1823588" cy="100584"/>
          </a:xfrm>
          <a:prstGeom prst="roundRect">
            <a:avLst>
              <a:gd name="adj" fmla="val 45454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0634472" y="4590288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81,4% · 374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20640" y="4892040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Харид бўйича муҳандис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21040" y="5001768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8321040" y="5001768"/>
            <a:ext cx="1823588" cy="100584"/>
          </a:xfrm>
          <a:prstGeom prst="roundRect">
            <a:avLst>
              <a:gd name="adj" fmla="val 45454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10634472" y="4892040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81,4% · 374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0640" y="5193792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КД деталлари моддий оқимини таҳлил қилиш муҳандиси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321040" y="5303520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8321040" y="5303520"/>
            <a:ext cx="1772061" cy="100584"/>
          </a:xfrm>
          <a:prstGeom prst="roundRect">
            <a:avLst>
              <a:gd name="adj" fmla="val 45454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634472" y="5193792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79,1% · 364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20640" y="5495544"/>
            <a:ext cx="31546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Харид бўйича муҳандис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321040" y="5605272"/>
            <a:ext cx="2240280" cy="100584"/>
          </a:xfrm>
          <a:prstGeom prst="roundRect">
            <a:avLst>
              <a:gd name="adj" fmla="val 4545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8321040" y="5605272"/>
            <a:ext cx="2038655" cy="100584"/>
          </a:xfrm>
          <a:prstGeom prst="roundRect">
            <a:avLst>
              <a:gd name="adj" fmla="val 45454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0634472" y="5495544"/>
            <a:ext cx="9144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91,0% · 419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89236" y="1527048"/>
            <a:ext cx="13716" cy="4270248"/>
          </a:xfrm>
          <a:prstGeom prst="rect">
            <a:avLst/>
          </a:prstGeom>
          <a:solidFill>
            <a:srgbClr val="EDEBE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9523476" y="57972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9AA2AC"/>
                </a:solidFill>
                <a:latin typeface="Segoe UI"/>
              </a:rPr>
              <a:t>70%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20440" y="6035040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37D"/>
                </a:solidFill>
                <a:latin typeface="Segoe UI"/>
              </a:rPr>
              <a:t>Камаювчи — бандлиги 70% дан (322 дақиқадан) паст штат бирликлари; қисқартириш ёки вазифаларни бирлаштириш учун номзод.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Ўқитишлар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03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АДМ Академия, ички ўқитиш ижроси ва ходимларни баҳолаш тизими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03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6 ойлик ўқитиш ва компетенция натижалари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Қамров юқори, аммо сентябрда давомат пасайди ва Сифат йўналишида компетенция пастроқ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21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БРИГАДИРЛАР ЎҚИТИЛДИ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94,5%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185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165 нафардан 156 нафари камида бир марта</a:t>
            </a:r>
          </a:p>
        </p:txBody>
      </p:sp>
      <p:sp>
        <p:nvSpPr>
          <p:cNvPr id="22" name="!!c2"/>
          <p:cNvSpPr/>
          <p:nvPr/>
        </p:nvSpPr>
        <p:spPr>
          <a:xfrm>
            <a:off x="333756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337560" y="1353312"/>
            <a:ext cx="54864" cy="996696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56616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СЕНТЯБРДА ДАРСГА КЕЛМАГАН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53619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23 нафар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185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Апрелда 5 нафар эди; қамров 85,0%гача</a:t>
            </a:r>
          </a:p>
        </p:txBody>
      </p:sp>
      <p:sp>
        <p:nvSpPr>
          <p:cNvPr id="27" name="!!c3"/>
          <p:cNvSpPr/>
          <p:nvPr/>
        </p:nvSpPr>
        <p:spPr>
          <a:xfrm>
            <a:off x="617220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72200" y="1353312"/>
            <a:ext cx="54864" cy="99669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ЎРТАЧА КОМПЕТЕНЦИЯ БАЛИ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76,8%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85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341 ходим баҳоланди (585 макс. балл)</a:t>
            </a:r>
          </a:p>
        </p:txBody>
      </p:sp>
      <p:sp>
        <p:nvSpPr>
          <p:cNvPr id="32" name="!!c4"/>
          <p:cNvSpPr/>
          <p:nvPr/>
        </p:nvSpPr>
        <p:spPr>
          <a:xfrm>
            <a:off x="900684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06840" y="1353312"/>
            <a:ext cx="54864" cy="996696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3544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70%ДАН ПАСТ НАТИЖА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53619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108 нафар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1854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Сифат 78, Йиғув 28 · 72,2%и Сифатда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265176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277063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КОМПЕТЕНЦИЯ: СИФАТ ЙЎНАЛИШИ УСТУВОР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27249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9AA2AC"/>
                </a:solidFill>
                <a:latin typeface="Segoe UI"/>
              </a:rPr>
              <a:t>341 ходим баҳоланди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0632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 Semibold"/>
              </a:rPr>
              <a:t>ЙЎНАЛИШ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30632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37D"/>
                </a:solidFill>
                <a:latin typeface="Segoe UI Semibold"/>
              </a:rPr>
              <a:t>ХОДИМ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30632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 Semibold"/>
              </a:rPr>
              <a:t>ЎРТАЧА БАЛЛ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3375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Сифат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33375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130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0360" y="3456432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880360" y="3456432"/>
            <a:ext cx="1588130" cy="91440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303520" y="333756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E8826E"/>
                </a:solidFill>
                <a:latin typeface="Segoe UI Semibold"/>
              </a:rPr>
              <a:t>66,8%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2160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Йиғув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3721608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118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360" y="3840480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2880360" y="3840480"/>
            <a:ext cx="1935236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03520" y="372160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3CC6B8"/>
                </a:solidFill>
                <a:latin typeface="Segoe UI Semibold"/>
              </a:rPr>
              <a:t>81,4%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10565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Бўёқлаш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4105656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43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80360" y="4224528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2880360" y="4224528"/>
            <a:ext cx="2056486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303520" y="4105656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3CC6B8"/>
                </a:solidFill>
                <a:latin typeface="Segoe UI Semibold"/>
              </a:rPr>
              <a:t>86,5%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897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СКД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65960" y="4489704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18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80360" y="4608576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2880360" y="4608576"/>
            <a:ext cx="1978030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303520" y="4489704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3CC6B8"/>
                </a:solidFill>
                <a:latin typeface="Segoe UI Semibold"/>
              </a:rPr>
              <a:t>83,2%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48737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Таъмирлаш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5960" y="487375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17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80360" y="4992624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2880360" y="4992624"/>
            <a:ext cx="1899575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5303520" y="4873752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3CC6B8"/>
                </a:solidFill>
                <a:latin typeface="Segoe UI Semibold"/>
              </a:rPr>
              <a:t>79,9%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525780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"/>
              </a:rPr>
              <a:t>Ускуналар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65960" y="5257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AA2AC"/>
                </a:solidFill>
                <a:latin typeface="Segoe UI"/>
              </a:rPr>
              <a:t>15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80360" y="5376672"/>
            <a:ext cx="2377440" cy="91440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2880360" y="5376672"/>
            <a:ext cx="2101657" cy="91440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303520" y="525780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3CC6B8"/>
                </a:solidFill>
                <a:latin typeface="Segoe UI Semibold"/>
              </a:rPr>
              <a:t>88,4%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5715000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14400" y="57150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EDEBEB"/>
                </a:solidFill>
                <a:latin typeface="Segoe UI Semibold"/>
              </a:rPr>
              <a:t>73,9%</a:t>
            </a:r>
            <a:r>
              <a:rPr sz="1000" b="0" i="0">
                <a:solidFill>
                  <a:srgbClr val="3CC6B8"/>
                </a:solidFill>
                <a:latin typeface="Segoe UI"/>
              </a:rPr>
              <a:t>   умумий ўртача   ·   режа: 90%+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0" y="26517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446520" y="2770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ТАКЛИФ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2724912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E8826E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9052560" y="272491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E8826E"/>
                </a:solidFill>
                <a:latin typeface="Segoe UI Semibold"/>
              </a:rPr>
              <a:t>Таҳлилий таклиф · ҳали тасдиқланмаган</a:t>
            </a:r>
          </a:p>
        </p:txBody>
      </p:sp>
      <p:sp>
        <p:nvSpPr>
          <p:cNvPr id="79" name="Oval 78"/>
          <p:cNvSpPr/>
          <p:nvPr/>
        </p:nvSpPr>
        <p:spPr>
          <a:xfrm>
            <a:off x="6446520" y="3154680"/>
            <a:ext cx="640080" cy="640080"/>
          </a:xfrm>
          <a:prstGeom prst="ellipse">
            <a:avLst/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0" name="Picture 79" descr="ico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91840"/>
            <a:ext cx="365760" cy="36576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69480" y="313639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Давоматни тиклаш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69480" y="34290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Таътил ва сменага мос қўшимча дарслар. Пайвандлаш (7) ва Таъминот (5) биринчи навбатда.</a:t>
            </a:r>
          </a:p>
        </p:txBody>
      </p:sp>
      <p:sp>
        <p:nvSpPr>
          <p:cNvPr id="83" name="Oval 82"/>
          <p:cNvSpPr/>
          <p:nvPr/>
        </p:nvSpPr>
        <p:spPr>
          <a:xfrm>
            <a:off x="6446520" y="4178808"/>
            <a:ext cx="640080" cy="640080"/>
          </a:xfrm>
          <a:prstGeom prst="ellipse">
            <a:avLst/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4" name="Picture 83" descr="ic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15968"/>
            <a:ext cx="365760" cy="3657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269480" y="41605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106 ходимни қайта ўқитиш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69480" y="4453128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Сифат 78 + Йиғув 28: ADM MS, йўқотишлар, WPO. 30 кунда қайта баҳо.</a:t>
            </a:r>
          </a:p>
        </p:txBody>
      </p:sp>
      <p:sp>
        <p:nvSpPr>
          <p:cNvPr id="87" name="Oval 86"/>
          <p:cNvSpPr/>
          <p:nvPr/>
        </p:nvSpPr>
        <p:spPr>
          <a:xfrm>
            <a:off x="6446520" y="5202936"/>
            <a:ext cx="640080" cy="640080"/>
          </a:xfrm>
          <a:prstGeom prst="ellipse">
            <a:avLst/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ico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340096"/>
            <a:ext cx="365760" cy="3657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269480" y="5184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Ягона натижалар реестри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69480" y="5477256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Давомат, баҳо, OJT, сертификат ва харажат битта тизимда (Академия, HR, Молия).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03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Давомат сентябрда пасайди, энг пасти Ускуналарда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Бригадирлар: 2 865 қатнашув · раҳбарлар: 455 имкониятдан 208 қайд (45,7%)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22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5577840" cy="2606040"/>
          </a:xfrm>
          <a:prstGeom prst="roundRect">
            <a:avLst>
              <a:gd name="adj" fmla="val 2807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075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ҚАМРОВ, 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48640" y="1508760"/>
          <a:ext cx="548640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!!c2"/>
          <p:cNvSpPr/>
          <p:nvPr/>
        </p:nvSpPr>
        <p:spPr>
          <a:xfrm>
            <a:off x="502920" y="3931920"/>
            <a:ext cx="5577840" cy="2377440"/>
          </a:xfrm>
          <a:prstGeom prst="roundRect">
            <a:avLst>
              <a:gd name="adj" fmla="val 307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0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8826E"/>
                </a:solidFill>
                <a:latin typeface="Segoe UI Semibold"/>
              </a:rPr>
              <a:t>КЕЛМАГАНЛАР, НАФАР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48640" y="4251960"/>
          <a:ext cx="548640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!!c3"/>
          <p:cNvSpPr/>
          <p:nvPr/>
        </p:nvSpPr>
        <p:spPr>
          <a:xfrm>
            <a:off x="6217920" y="11887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13075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БЎЛИМЛАР БЎЙИЧА ҚАТНАШУВ,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60020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Бўёқлаш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732239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092440" y="1732239"/>
            <a:ext cx="2903449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137392" y="1600200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97,7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947672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Сифат назорати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079711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092440" y="2079711"/>
            <a:ext cx="2838069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137392" y="1947672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95,5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29514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Йиғув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2427183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092440" y="2427183"/>
            <a:ext cx="2802407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1137392" y="229514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94,3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64261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Таъминот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2774655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8092440" y="2774655"/>
            <a:ext cx="2802407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1137392" y="264261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94,3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99008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Маъмурий хизмат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122127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8092440" y="3122127"/>
            <a:ext cx="2725141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1137392" y="2990088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91,7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33756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Пайвандлаш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3469599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8092440" y="3469599"/>
            <a:ext cx="2704338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137392" y="3337560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91,0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685032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СКД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17071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8092440" y="3817071"/>
            <a:ext cx="2656789" cy="83393"/>
          </a:xfrm>
          <a:prstGeom prst="roundRect">
            <a:avLst>
              <a:gd name="adj" fmla="val 50000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1137392" y="3685032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89,4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03250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"/>
              </a:rPr>
              <a:t>Ускуналар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2440" y="4164543"/>
            <a:ext cx="2971800" cy="83393"/>
          </a:xfrm>
          <a:prstGeom prst="roundRect">
            <a:avLst>
              <a:gd name="adj" fmla="val 50000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8092440" y="4164543"/>
            <a:ext cx="1982191" cy="83393"/>
          </a:xfrm>
          <a:prstGeom prst="roundRect">
            <a:avLst>
              <a:gd name="adj" fmla="val 50000"/>
            </a:avLst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1137392" y="403250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66,7</a:t>
            </a:r>
          </a:p>
        </p:txBody>
      </p:sp>
      <p:sp>
        <p:nvSpPr>
          <p:cNvPr id="57" name="!!c4"/>
          <p:cNvSpPr/>
          <p:nvPr/>
        </p:nvSpPr>
        <p:spPr>
          <a:xfrm>
            <a:off x="6217920" y="4617720"/>
            <a:ext cx="1773936" cy="1691640"/>
          </a:xfrm>
          <a:prstGeom prst="roundRect">
            <a:avLst>
              <a:gd name="adj" fmla="val 432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217920" y="4617720"/>
            <a:ext cx="1773936" cy="45720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355080" y="4754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826E"/>
                </a:solidFill>
                <a:latin typeface="Segoe UI Light"/>
              </a:rPr>
              <a:t>−11,7 п.п.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523036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Қамров июндан сентябргача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6692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96,7% → 85,0%</a:t>
            </a:r>
          </a:p>
        </p:txBody>
      </p:sp>
      <p:sp>
        <p:nvSpPr>
          <p:cNvPr id="62" name="!!c5"/>
          <p:cNvSpPr/>
          <p:nvPr/>
        </p:nvSpPr>
        <p:spPr>
          <a:xfrm>
            <a:off x="8074152" y="4617720"/>
            <a:ext cx="1773936" cy="1691640"/>
          </a:xfrm>
          <a:prstGeom prst="roundRect">
            <a:avLst>
              <a:gd name="adj" fmla="val 432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074152" y="4617720"/>
            <a:ext cx="1773936" cy="45720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11312" y="4754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8826E"/>
                </a:solidFill>
                <a:latin typeface="Segoe UI Light"/>
              </a:rPr>
              <a:t>3 бригадир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1312" y="523036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Ускуналарда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11312" y="56692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Ш. Икрамов: июль–август йўқ</a:t>
            </a:r>
          </a:p>
        </p:txBody>
      </p:sp>
      <p:sp>
        <p:nvSpPr>
          <p:cNvPr id="67" name="!!c6"/>
          <p:cNvSpPr/>
          <p:nvPr/>
        </p:nvSpPr>
        <p:spPr>
          <a:xfrm>
            <a:off x="9930384" y="4617720"/>
            <a:ext cx="1773936" cy="1691640"/>
          </a:xfrm>
          <a:prstGeom prst="roundRect">
            <a:avLst>
              <a:gd name="adj" fmla="val 4324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930384" y="4617720"/>
            <a:ext cx="1773936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067544" y="47548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CC6B8"/>
                </a:solidFill>
                <a:latin typeface="Segoe UI Light"/>
              </a:rPr>
              <a:t>45,7%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67544" y="523036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 Semibold"/>
              </a:rPr>
              <a:t>Раҳбарлар: қайд улуши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67544" y="56692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2AC"/>
                </a:solidFill>
                <a:latin typeface="Segoe UI"/>
              </a:rPr>
              <a:t>режа бажарилиши фоизи эмас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Grading тизими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04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Рол, баҳолаш, ривожланиш ва тўлов: ягона тизим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04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Grading тизими: рол, баҳолаш ва тўлов ягона тизимда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Тўғри одам тўғри ролда, тўғри тўлов ва ўсиш имкониятлари билан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24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3108960" cy="5120640"/>
          </a:xfrm>
          <a:prstGeom prst="roundRect">
            <a:avLst>
              <a:gd name="adj" fmla="val 235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КАРЬЕРА ЗИНАПОЯСИ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1691640"/>
            <a:ext cx="1828800" cy="822960"/>
          </a:xfrm>
          <a:prstGeom prst="roundRect">
            <a:avLst>
              <a:gd name="adj" fmla="val 8888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37360" y="176479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62A30"/>
                </a:solidFill>
                <a:latin typeface="Segoe UI Semibold"/>
              </a:rPr>
              <a:t>HiPo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1305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62A30"/>
                </a:solidFill>
                <a:latin typeface="Segoe UI"/>
              </a:rPr>
              <a:t>Young · HiPo ·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2651760"/>
            <a:ext cx="2103120" cy="822960"/>
          </a:xfrm>
          <a:prstGeom prst="roundRect">
            <a:avLst>
              <a:gd name="adj" fmla="val 8888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463040" y="27249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DEBEB"/>
                </a:solidFill>
                <a:latin typeface="Segoe UI Semibold"/>
              </a:rPr>
              <a:t>Senior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90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A · B ·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611880"/>
            <a:ext cx="2377440" cy="822960"/>
          </a:xfrm>
          <a:prstGeom prst="roundRect">
            <a:avLst>
              <a:gd name="adj" fmla="val 8888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88720" y="36850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DEBEB"/>
                </a:solidFill>
                <a:latin typeface="Segoe UI Semibold"/>
              </a:rPr>
              <a:t>Middle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0507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A · B ·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2651760" cy="822960"/>
          </a:xfrm>
          <a:prstGeom prst="roundRect">
            <a:avLst>
              <a:gd name="adj" fmla="val 8888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DEBEB"/>
                </a:solidFill>
                <a:latin typeface="Segoe UI Semibold"/>
              </a:rPr>
              <a:t>Junior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10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A · B ·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"/>
              </a:rPr>
              <a:t>↑ Junior → HiPo; ҳар даража ичида A → B → C</a:t>
            </a:r>
          </a:p>
        </p:txBody>
      </p:sp>
      <p:sp>
        <p:nvSpPr>
          <p:cNvPr id="32" name="!!c2"/>
          <p:cNvSpPr/>
          <p:nvPr/>
        </p:nvSpPr>
        <p:spPr>
          <a:xfrm>
            <a:off x="3749040" y="1188720"/>
            <a:ext cx="1901952" cy="3520440"/>
          </a:xfrm>
          <a:prstGeom prst="roundRect">
            <a:avLst>
              <a:gd name="adj" fmla="val 384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3931920" y="135331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931920" y="13533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1874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РОЛ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21214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DEBEB"/>
                </a:solidFill>
                <a:latin typeface="Segoe UI Light"/>
              </a:rPr>
              <a:t>Аниқ роллар ва кутишлар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2862072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069080" y="2788920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Рол ва масъулият тавсифи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483864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069080" y="3410712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Талаб қилинадиган компетенциялар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4105656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69080" y="403250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Таъсир даражаси ва мураккаблик</a:t>
            </a:r>
          </a:p>
        </p:txBody>
      </p:sp>
      <p:sp>
        <p:nvSpPr>
          <p:cNvPr id="43" name="!!c3"/>
          <p:cNvSpPr/>
          <p:nvPr/>
        </p:nvSpPr>
        <p:spPr>
          <a:xfrm>
            <a:off x="5760720" y="1188720"/>
            <a:ext cx="1901952" cy="3520440"/>
          </a:xfrm>
          <a:prstGeom prst="roundRect">
            <a:avLst>
              <a:gd name="adj" fmla="val 384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943600" y="135331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43600" y="13533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1874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БАҲОЛАШ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21214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DEBEB"/>
                </a:solidFill>
                <a:latin typeface="Segoe UI Light"/>
              </a:rPr>
              <a:t>Объектив баҳолаш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862072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080760" y="2788920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Шаффоф мезонлар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3483864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080760" y="3410712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Мунтазам тескари алоқа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4105656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80760" y="403250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Натижалар ва компетенцияларни баҳолаш</a:t>
            </a:r>
          </a:p>
        </p:txBody>
      </p:sp>
      <p:sp>
        <p:nvSpPr>
          <p:cNvPr id="54" name="!!c4"/>
          <p:cNvSpPr/>
          <p:nvPr/>
        </p:nvSpPr>
        <p:spPr>
          <a:xfrm>
            <a:off x="7772400" y="1188720"/>
            <a:ext cx="1901952" cy="3520440"/>
          </a:xfrm>
          <a:prstGeom prst="roundRect">
            <a:avLst>
              <a:gd name="adj" fmla="val 384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7955280" y="135331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55280" y="13533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0" y="1874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РИВОЖЛАНИШ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0" y="21214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DEBEB"/>
                </a:solidFill>
                <a:latin typeface="Segoe UI Light"/>
              </a:rPr>
              <a:t>Ўсиш ва ривожланиш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2862072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092440" y="2788920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Индивидуал ривожланиш режалари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3483864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092440" y="3410712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Ўқитиш ва ўсиш имкониятлари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55280" y="4105656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092440" y="403250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Карьера траекториялари</a:t>
            </a:r>
          </a:p>
        </p:txBody>
      </p:sp>
      <p:sp>
        <p:nvSpPr>
          <p:cNvPr id="65" name="!!c5"/>
          <p:cNvSpPr/>
          <p:nvPr/>
        </p:nvSpPr>
        <p:spPr>
          <a:xfrm>
            <a:off x="9784080" y="1188720"/>
            <a:ext cx="1901952" cy="3520440"/>
          </a:xfrm>
          <a:prstGeom prst="roundRect">
            <a:avLst>
              <a:gd name="adj" fmla="val 384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9966960" y="135331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966960" y="13533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1874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ТЎЛОВ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6960" y="21214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DEBEB"/>
                </a:solidFill>
                <a:latin typeface="Segoe UI Light"/>
              </a:rPr>
              <a:t>Адолатли тўлов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2862072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104120" y="2788920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Рол қиймати ва натижалар асосида тўлов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66960" y="3483864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0104120" y="3410712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Рақобатбардош бозор маълумотлари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66960" y="4105656"/>
            <a:ext cx="45720" cy="36576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104120" y="4032504"/>
            <a:ext cx="148132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Шаффоф диапазонлар ва қоидалар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749040" y="4846320"/>
            <a:ext cx="7955280" cy="1463040"/>
          </a:xfrm>
          <a:prstGeom prst="roundRect">
            <a:avLst>
              <a:gd name="adj" fmla="val 5000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977640" y="495604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ЯГОНА ТИЗИМНИНГ ТАМОЙИЛЛАРИ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7640" y="5257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DEBEB"/>
                </a:solidFill>
                <a:latin typeface="Segoe UI Semibold"/>
              </a:rPr>
              <a:t>Шаффофлик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77640" y="555040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Тушунарли қоидалар, мезон ва жараёнлар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16168" y="5257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DEBEB"/>
                </a:solidFill>
                <a:latin typeface="Segoe UI Semibold"/>
              </a:rPr>
              <a:t>Автоматлаштириш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16168" y="555040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Баҳолаш ва қарор учун рақамли воситалар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54696" y="5257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DEBEB"/>
                </a:solidFill>
                <a:latin typeface="Segoe UI Semibold"/>
              </a:rPr>
              <a:t>Ривожланиш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54696" y="555040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Компетенция ва салоҳиятни ошириш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93224" y="5257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DEBEB"/>
                </a:solidFill>
                <a:latin typeface="Segoe UI Semibold"/>
              </a:rPr>
              <a:t>Маълумотли қарор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93224" y="5550408"/>
            <a:ext cx="1783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Объектив кадрлар қарори учун таҳлил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04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Грейдлар ва даражани белгилаш мезонлари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Лавозимлар G1 дан G14 гача · даража 4 блок бўйича балл билан аниқланади (Мастер G6 мисолида)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25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512064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075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ЛАВОЗИМЛАР РЎЙХАТИ (ГРЕЙДЛАР)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60020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160020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15819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Асосий ходимлар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176479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Тозаловчи, боғбон, оператор, ёрдамчи ишчи, ошхона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198882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19888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19705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Техник ходимлар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1534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Чилангар, ҳайдовчи, омборчи, электрик, курьер, сантехник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237744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237744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23591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Малакали ишчи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25420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Сифат инспектори, электромонтёр, пайвандчи, техника ҳайдовчиси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276606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" y="276606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274777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Катта ишчилар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29306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Бригадир, диспетчер, ассистент, бухгалтерия кўмаги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15468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315468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62A30"/>
                </a:solidFill>
                <a:latin typeface="Segoe UI Semibold"/>
              </a:rPr>
              <a:t>G6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313639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Мастер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31927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Ишлаб чиқариш участкаси мастери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54330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85800" y="354330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35250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Мутахассис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370789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Муҳандис, бухгалтер, HR, технолог, IT-админ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93192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85800" y="39319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39136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Катта мутахассис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0965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Инвестиция мутахассиси, технадзор ва ПТО муҳандиси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32054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85800" y="432054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43022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Секция раҳбари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44851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Секция бошлиғи, бош бухгалтер ўринбосари, линия бошлиғи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470916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470916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469087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Секция раҳбари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487375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Локализация, бухгалтерия, R&amp;D, режалаштириш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09778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5800" y="509778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07949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Олий тоифали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526237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Инвестиция, техназорат ва ПТО бош мутахассиси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548640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5800" y="548640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40" y="54681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Бўлим бошлиғи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65099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Бўлим бошлиқлари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5875020"/>
            <a:ext cx="658368" cy="329184"/>
          </a:xfrm>
          <a:prstGeom prst="roundRect">
            <a:avLst>
              <a:gd name="adj" fmla="val 16666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85800" y="5875020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G13–14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63040" y="58567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DEBEB"/>
                </a:solidFill>
                <a:latin typeface="Segoe UI Semibold"/>
              </a:rPr>
              <a:t>Топ-даража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3040" y="603961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AA2AC"/>
                </a:solidFill>
                <a:latin typeface="Segoe UI"/>
              </a:rPr>
              <a:t>Ўринбосар ва бўлим директори</a:t>
            </a:r>
          </a:p>
        </p:txBody>
      </p:sp>
      <p:sp>
        <p:nvSpPr>
          <p:cNvPr id="67" name="!!c2"/>
          <p:cNvSpPr/>
          <p:nvPr/>
        </p:nvSpPr>
        <p:spPr>
          <a:xfrm>
            <a:off x="5760720" y="1188720"/>
            <a:ext cx="5943600" cy="2743200"/>
          </a:xfrm>
          <a:prstGeom prst="roundRect">
            <a:avLst>
              <a:gd name="adj" fmla="val 266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989320" y="13075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ДАРАЖАНИ БЕЛГИЛАШ: 4 БЛОК</a:t>
            </a:r>
          </a:p>
        </p:txBody>
      </p:sp>
      <p:sp>
        <p:nvSpPr>
          <p:cNvPr id="69" name="Oval 68"/>
          <p:cNvSpPr/>
          <p:nvPr/>
        </p:nvSpPr>
        <p:spPr>
          <a:xfrm>
            <a:off x="5989320" y="1618488"/>
            <a:ext cx="347472" cy="347472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989320" y="1618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62A30"/>
                </a:solidFill>
                <a:latin typeface="Segoe UI Semibold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 Semibold"/>
              </a:rPr>
              <a:t>Awareness</a:t>
            </a:r>
            <a:r>
              <a:rPr sz="800" b="0" i="0">
                <a:solidFill>
                  <a:srgbClr val="3CC6B8"/>
                </a:solidFill>
                <a:latin typeface="Segoe UI"/>
              </a:rPr>
              <a:t>  · Илова №1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46520" y="18745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NT—1, A—2, K—3, D—4, T—5 балл</a:t>
            </a:r>
          </a:p>
        </p:txBody>
      </p:sp>
      <p:sp>
        <p:nvSpPr>
          <p:cNvPr id="73" name="Oval 72"/>
          <p:cNvSpPr/>
          <p:nvPr/>
        </p:nvSpPr>
        <p:spPr>
          <a:xfrm>
            <a:off x="8823960" y="1618488"/>
            <a:ext cx="347472" cy="347472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823960" y="1618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62A30"/>
                </a:solidFill>
                <a:latin typeface="Segoe UI Semibold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 Semibold"/>
              </a:rPr>
              <a:t>Корпоратив қадриятлар</a:t>
            </a:r>
            <a:r>
              <a:rPr sz="800" b="0" i="0">
                <a:solidFill>
                  <a:srgbClr val="3CC6B8"/>
                </a:solidFill>
                <a:latin typeface="Segoe UI"/>
              </a:rPr>
              <a:t>  · Илова №2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1160" y="18745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Стаж: 1 йил—5, 2—10, 3—25, 4—40 балл; интизомий жазо −20</a:t>
            </a:r>
          </a:p>
        </p:txBody>
      </p:sp>
      <p:sp>
        <p:nvSpPr>
          <p:cNvPr id="77" name="Oval 76"/>
          <p:cNvSpPr/>
          <p:nvPr/>
        </p:nvSpPr>
        <p:spPr>
          <a:xfrm>
            <a:off x="5989320" y="2761488"/>
            <a:ext cx="347472" cy="347472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98932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62A30"/>
                </a:solidFill>
                <a:latin typeface="Segoe UI Semibold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4652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 Semibold"/>
              </a:rPr>
              <a:t>Аттестация ва «360»</a:t>
            </a:r>
            <a:r>
              <a:rPr sz="800" b="0" i="0">
                <a:solidFill>
                  <a:srgbClr val="3CC6B8"/>
                </a:solidFill>
                <a:latin typeface="Segoe UI"/>
              </a:rPr>
              <a:t>  · Илова №3–4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30175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65 савол × 2 балл; «360»: 1—40, 2—70, 3—100, 4—115, 5—130</a:t>
            </a:r>
          </a:p>
        </p:txBody>
      </p:sp>
      <p:sp>
        <p:nvSpPr>
          <p:cNvPr id="81" name="Oval 80"/>
          <p:cNvSpPr/>
          <p:nvPr/>
        </p:nvSpPr>
        <p:spPr>
          <a:xfrm>
            <a:off x="8823960" y="2761488"/>
            <a:ext cx="347472" cy="347472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82396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62A30"/>
                </a:solidFill>
                <a:latin typeface="Segoe UI Semibold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81160" y="2743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DEBEB"/>
                </a:solidFill>
                <a:latin typeface="Segoe UI Semibold"/>
              </a:rPr>
              <a:t>Лойиҳа тақдимоти</a:t>
            </a:r>
            <a:r>
              <a:rPr sz="800" b="0" i="0">
                <a:solidFill>
                  <a:srgbClr val="3CC6B8"/>
                </a:solidFill>
                <a:latin typeface="Segoe UI"/>
              </a:rPr>
              <a:t>  · KEY учун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30175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Фақат KEY (HiPo) даражаси учун талаб қилинади</a:t>
            </a:r>
          </a:p>
        </p:txBody>
      </p:sp>
      <p:sp>
        <p:nvSpPr>
          <p:cNvPr id="85" name="!!c3"/>
          <p:cNvSpPr/>
          <p:nvPr/>
        </p:nvSpPr>
        <p:spPr>
          <a:xfrm>
            <a:off x="5760720" y="4069080"/>
            <a:ext cx="5943600" cy="2240280"/>
          </a:xfrm>
          <a:prstGeom prst="roundRect">
            <a:avLst>
              <a:gd name="adj" fmla="val 326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5989320" y="41788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ЯКУНИЙ БАЛЛ БЎЙИЧА ДАРАЖА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5989320" y="4434840"/>
          <a:ext cx="3108960" cy="1554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0259"/>
                <a:gridCol w="588182"/>
                <a:gridCol w="1092337"/>
                <a:gridCol w="58818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Даража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A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B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 Semibold"/>
                        </a:rPr>
                        <a:t>C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Junior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292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Middle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3CC6B8"/>
                          </a:solidFill>
                          <a:latin typeface="Segoe UI"/>
                        </a:rPr>
                        <a:t>455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Senior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552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585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620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HiPo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>KEY: 650 + лойиҳа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EDEBE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</a:tbl>
          </a:graphicData>
        </a:graphic>
      </p:graphicFrame>
      <p:sp>
        <p:nvSpPr>
          <p:cNvPr id="88" name="Rounded Rectangle 87"/>
          <p:cNvSpPr/>
          <p:nvPr/>
        </p:nvSpPr>
        <p:spPr>
          <a:xfrm>
            <a:off x="9281160" y="4434840"/>
            <a:ext cx="2240280" cy="1554480"/>
          </a:xfrm>
          <a:prstGeom prst="roundRect">
            <a:avLst>
              <a:gd name="adj" fmla="val 5882"/>
            </a:avLst>
          </a:prstGeom>
          <a:solidFill>
            <a:srgbClr val="1F5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418320" y="45262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CC6B8"/>
                </a:solidFill>
                <a:latin typeface="Segoe UI Semibold"/>
              </a:rPr>
              <a:t>МИСОЛ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0" y="475488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DEBEB"/>
                </a:solidFill>
                <a:latin typeface="Segoe UI"/>
              </a:rPr>
              <a:t>балл 85, стаж 2 йил, жазо 0, тўғри жавоб 40, «360» — 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18320" y="5440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2AC"/>
                </a:solidFill>
                <a:latin typeface="Segoe UI"/>
              </a:rPr>
              <a:t>466,25 → </a:t>
            </a:r>
            <a:r>
              <a:rPr sz="1100" b="0" i="0">
                <a:solidFill>
                  <a:srgbClr val="3CC6B8"/>
                </a:solidFill>
                <a:latin typeface="Segoe UI Semibold"/>
              </a:rPr>
              <a:t>MIDDLE 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Электрон ариза тизими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05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Қоғоз аризадан электрон жараёнга ўтиш ва янги стандартлар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05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Электрон ариза тизими жорий этилди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Ходимларни ишга қабул қилиш ва мослаштириш бўйича иккита муҳим стандарт тасдиқланди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27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1234440"/>
          </a:xfrm>
          <a:prstGeom prst="roundRect">
            <a:avLst>
              <a:gd name="adj" fmla="val 592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353312"/>
            <a:ext cx="54864" cy="9052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ЭЛЕКТРОНЛАШТИРИЛГАН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36192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093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ариза тури</a:t>
            </a:r>
          </a:p>
        </p:txBody>
      </p:sp>
      <p:sp>
        <p:nvSpPr>
          <p:cNvPr id="22" name="!!c2"/>
          <p:cNvSpPr/>
          <p:nvPr/>
        </p:nvSpPr>
        <p:spPr>
          <a:xfrm>
            <a:off x="3337560" y="1188720"/>
            <a:ext cx="2697480" cy="1234440"/>
          </a:xfrm>
          <a:prstGeom prst="roundRect">
            <a:avLst>
              <a:gd name="adj" fmla="val 592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337560" y="1353312"/>
            <a:ext cx="54864" cy="9052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56616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ЯНГИ МОДУЛ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536192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093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йиллик таътил</a:t>
            </a:r>
          </a:p>
        </p:txBody>
      </p:sp>
      <p:sp>
        <p:nvSpPr>
          <p:cNvPr id="27" name="!!c3"/>
          <p:cNvSpPr/>
          <p:nvPr/>
        </p:nvSpPr>
        <p:spPr>
          <a:xfrm>
            <a:off x="6172200" y="1188720"/>
            <a:ext cx="2697480" cy="1234440"/>
          </a:xfrm>
          <a:prstGeom prst="roundRect">
            <a:avLst>
              <a:gd name="adj" fmla="val 592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172200" y="1353312"/>
            <a:ext cx="54864" cy="9052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ЭЛЕКТРОН КУЗАТИШ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536192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100%</a:t>
            </a:r>
          </a:p>
        </p:txBody>
      </p:sp>
      <p:sp>
        <p:nvSpPr>
          <p:cNvPr id="31" name="!!c4"/>
          <p:cNvSpPr/>
          <p:nvPr/>
        </p:nvSpPr>
        <p:spPr>
          <a:xfrm>
            <a:off x="9006840" y="1188720"/>
            <a:ext cx="2697480" cy="1234440"/>
          </a:xfrm>
          <a:prstGeom prst="roundRect">
            <a:avLst>
              <a:gd name="adj" fmla="val 592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006840" y="1353312"/>
            <a:ext cx="54864" cy="905256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35440" y="13167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КИОСК ХАРИДИГА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536192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3CC6B8"/>
                </a:solidFill>
                <a:latin typeface="Segoe UI Light"/>
              </a:rPr>
              <a:t>0 сўм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0939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сарфланган маблағ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2560320"/>
            <a:ext cx="6035040" cy="3749040"/>
          </a:xfrm>
          <a:prstGeom prst="roundRect">
            <a:avLst>
              <a:gd name="adj" fmla="val 195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2679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ЭЛЕКТРОН ШАКЛГА ЎТКАЗИЛГАН АРИЗАЛАР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017520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1248" y="3017520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0175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Бола туғилиши муносабати билан таътил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822192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8" y="3822192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382219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Никоҳ тўйи муносабати билан таътил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626864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41248" y="4626864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4626864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Яқин қариндош вафоти муносабати билан таътил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31536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41248" y="5431536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5431536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Иш ҳақи сақланмаган ҳолда таътил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11880" y="3017520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721608" y="3017520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3017520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Ўқув таътили бериш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11880" y="3822192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21608" y="3822192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3822192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Отгул бериш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11880" y="4626864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721608" y="4626864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4626864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Ҳарбий хизматга чақириш бўйича ариза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11880" y="5431536"/>
            <a:ext cx="2743200" cy="685800"/>
          </a:xfrm>
          <a:prstGeom prst="roundRect">
            <a:avLst>
              <a:gd name="adj" fmla="val 10666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721608" y="5431536"/>
            <a:ext cx="457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3CC6B8"/>
                </a:solidFill>
                <a:latin typeface="Segoe UI Light"/>
              </a:rPr>
              <a:t>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5431536"/>
            <a:ext cx="2057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Иш вақтида ташқарига чиқиш учун рухсатнома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75120" y="256032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903720" y="2679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ТАСДИҚЛАНГАН СТАНДАРТЛАР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28986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37D"/>
                </a:solidFill>
                <a:latin typeface="Segoe UI"/>
              </a:rPr>
              <a:t>ходимларни бошқариш жараёнлари бўйича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03720" y="32918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903720" y="3291840"/>
            <a:ext cx="54864" cy="12801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132320" y="34015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KSt-205000-006:2026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36758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DEBEB"/>
                </a:solidFill>
                <a:latin typeface="Segoe UI Light"/>
              </a:rPr>
              <a:t>Ишга қабул қилиш тартиби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40965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Тасдиқланди 03.09.2026  ·  амал қилади 02.09.2029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12680" y="3429000"/>
            <a:ext cx="13258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012680" y="3429000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3CC6B8"/>
                </a:solidFill>
                <a:latin typeface="Segoe UI Semibold"/>
              </a:rPr>
              <a:t>✓ ТАСДИҚЛАНДИ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03720" y="475488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363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6903720" y="4754880"/>
            <a:ext cx="54864" cy="128016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132320" y="4864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KSt-205000-020:2026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51389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DEBEB"/>
                </a:solidFill>
                <a:latin typeface="Segoe UI Light"/>
              </a:rPr>
              <a:t>Мослаштириш тартиби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55595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"/>
              </a:rPr>
              <a:t>Тасдиқланди 09.09.2026  ·  амал қилади 08.09.2029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012680" y="4892040"/>
            <a:ext cx="132588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012680" y="4892040"/>
            <a:ext cx="1325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3CC6B8"/>
                </a:solidFill>
                <a:latin typeface="Segoe UI Semibold"/>
              </a:rPr>
              <a:t>✓ ТАСДИҚЛАНДИ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05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Электрон ариза: жараён ва фойда</a:t>
            </a:r>
          </a:p>
        </p:txBody>
      </p:sp>
      <p:pic>
        <p:nvPicPr>
          <p:cNvPr id="13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4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5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28</a:t>
            </a:r>
          </a:p>
        </p:txBody>
      </p:sp>
      <p:sp>
        <p:nvSpPr>
          <p:cNvPr id="16" name="!!c1"/>
          <p:cNvSpPr/>
          <p:nvPr/>
        </p:nvSpPr>
        <p:spPr>
          <a:xfrm>
            <a:off x="502920" y="1188720"/>
            <a:ext cx="11201400" cy="2240280"/>
          </a:xfrm>
          <a:prstGeom prst="roundRect">
            <a:avLst>
              <a:gd name="adj" fmla="val 326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E8826E"/>
                </a:solidFill>
                <a:latin typeface="Segoe UI Semibold"/>
              </a:rPr>
              <a:t>АВВАЛГИ ЖАРАЁН (ҚОҒОЗ)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Ёзиш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2086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6406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266406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Чоп этиш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6971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01291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801291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Имзо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1857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6177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36177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Раҳбарга топшириш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743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1063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71063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Келишиш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1629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05949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05949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HR'га етказиш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6514" y="1627632"/>
            <a:ext cx="274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B737D"/>
                </a:solidFill>
                <a:latin typeface="Segoe U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0834" y="1627632"/>
            <a:ext cx="1260566" cy="502920"/>
          </a:xfrm>
          <a:prstGeom prst="roundRect">
            <a:avLst>
              <a:gd name="adj" fmla="val 49090"/>
            </a:avLst>
          </a:prstGeom>
          <a:noFill/>
          <a:ln w="9525">
            <a:solidFill>
              <a:srgbClr val="6B7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940834" y="1627632"/>
            <a:ext cx="12605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>
                <a:solidFill>
                  <a:srgbClr val="9AA2AC"/>
                </a:solidFill>
                <a:latin typeface="Segoe UI"/>
              </a:rPr>
              <a:t>Архивлаш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2359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CC6B8"/>
                </a:solidFill>
                <a:latin typeface="Segoe UI Semibold"/>
              </a:rPr>
              <a:t>ЯНГИ ЖАРАЁН (ЭЛЕКТРОН)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15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Ариза турини танлаш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7900" y="26517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CC6B8"/>
                </a:solidFill>
                <a:latin typeface="Segoe U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222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222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Маълумот киритиш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38600" y="26517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CC6B8"/>
                </a:solidFill>
                <a:latin typeface="Segoe U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129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129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Электрон юбориш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9300" y="26517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CC6B8"/>
                </a:solidFill>
                <a:latin typeface="Segoe UI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036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1036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Раҳбар кўриб чиқади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0" y="26517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CC6B8"/>
                </a:solidFill>
                <a:latin typeface="Segoe UI"/>
              </a:rP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943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943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Автоматик йўналтириш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0700" y="26517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CC6B8"/>
                </a:solidFill>
                <a:latin typeface="Segoe UI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85020" y="2651760"/>
            <a:ext cx="1516380" cy="548640"/>
          </a:xfrm>
          <a:prstGeom prst="roundRect">
            <a:avLst>
              <a:gd name="adj" fmla="val 50000"/>
            </a:avLst>
          </a:prstGeom>
          <a:solidFill>
            <a:srgbClr val="1F5F5A"/>
          </a:solidFill>
          <a:ln w="952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685020" y="2651760"/>
            <a:ext cx="15163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DEBEB"/>
                </a:solidFill>
                <a:latin typeface="Segoe UI"/>
              </a:rPr>
              <a:t>Электрон тарихда сақлаш</a:t>
            </a:r>
          </a:p>
        </p:txBody>
      </p:sp>
      <p:sp>
        <p:nvSpPr>
          <p:cNvPr id="56" name="!!c2"/>
          <p:cNvSpPr/>
          <p:nvPr/>
        </p:nvSpPr>
        <p:spPr>
          <a:xfrm>
            <a:off x="502920" y="3566160"/>
            <a:ext cx="3630168" cy="1417320"/>
          </a:xfrm>
          <a:prstGeom prst="roundRect">
            <a:avLst>
              <a:gd name="adj" fmla="val 516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704088" y="373075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4088" y="37307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52728" y="373075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DEBEB"/>
                </a:solidFill>
                <a:latin typeface="Segoe UI Semibold"/>
              </a:rPr>
              <a:t>Ходим ва раҳбар вақти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" y="4251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Ариза тезкор шакллантирилади, қўлда етказиш ва излаш йўқолади</a:t>
            </a:r>
          </a:p>
        </p:txBody>
      </p:sp>
      <p:sp>
        <p:nvSpPr>
          <p:cNvPr id="61" name="!!c3"/>
          <p:cNvSpPr/>
          <p:nvPr/>
        </p:nvSpPr>
        <p:spPr>
          <a:xfrm>
            <a:off x="4270248" y="3566160"/>
            <a:ext cx="3630168" cy="1417320"/>
          </a:xfrm>
          <a:prstGeom prst="roundRect">
            <a:avLst>
              <a:gd name="adj" fmla="val 516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4471416" y="373075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471416" y="37307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0056" y="373075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DEBEB"/>
                </a:solidFill>
                <a:latin typeface="Segoe UI Semibold"/>
              </a:rPr>
              <a:t>Канцелярия харажати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1416" y="4251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Қоғоз, сиёҳ ва бланкалар сарфи қисқаради</a:t>
            </a:r>
          </a:p>
        </p:txBody>
      </p:sp>
      <p:sp>
        <p:nvSpPr>
          <p:cNvPr id="66" name="!!c4"/>
          <p:cNvSpPr/>
          <p:nvPr/>
        </p:nvSpPr>
        <p:spPr>
          <a:xfrm>
            <a:off x="8037576" y="3566160"/>
            <a:ext cx="3630168" cy="1417320"/>
          </a:xfrm>
          <a:prstGeom prst="roundRect">
            <a:avLst>
              <a:gd name="adj" fmla="val 5161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238744" y="3730752"/>
            <a:ext cx="411480" cy="411480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238744" y="37307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262A30"/>
                </a:solidFill>
                <a:latin typeface="Segoe UI Semibold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7384" y="373075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DEBEB"/>
                </a:solidFill>
                <a:latin typeface="Segoe UI Semibold"/>
              </a:rPr>
              <a:t>Назорат ва шаффофлик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38744" y="4251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Ариза ҳолатини кузатиш, ягона электрон маълумотлар базаси</a:t>
            </a:r>
          </a:p>
        </p:txBody>
      </p:sp>
      <p:sp>
        <p:nvSpPr>
          <p:cNvPr id="71" name="!!c5"/>
          <p:cNvSpPr/>
          <p:nvPr/>
        </p:nvSpPr>
        <p:spPr>
          <a:xfrm>
            <a:off x="502920" y="5120640"/>
            <a:ext cx="7040880" cy="1188720"/>
          </a:xfrm>
          <a:prstGeom prst="roundRect">
            <a:avLst>
              <a:gd name="adj" fmla="val 6153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502920" y="5120640"/>
            <a:ext cx="54864" cy="1188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31520" y="516636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3CC6B8"/>
                </a:solidFill>
                <a:latin typeface="Segoe UI Semibold"/>
              </a:rPr>
              <a:t>★ 96 000 000 сўм тежалди. </a:t>
            </a:r>
            <a:r>
              <a:rPr sz="950" b="0" i="0">
                <a:solidFill>
                  <a:srgbClr val="EDEBEB"/>
                </a:solidFill>
                <a:latin typeface="Segoe UI"/>
              </a:rPr>
              <a:t>Touch Screen киоск қурилмалари сотиб олинмади — мавжуд участка мастерлари компьютерларидан фойдаланилди. Қўшимча капитал харажат ва техник хизмат заруратининг олди олинди.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680960" y="5120640"/>
            <a:ext cx="4023360" cy="1188720"/>
          </a:xfrm>
          <a:prstGeom prst="roundRect">
            <a:avLst>
              <a:gd name="adj" fmla="val 6153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863840" y="5166360"/>
            <a:ext cx="37033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3CC6B8"/>
                </a:solidFill>
                <a:latin typeface="Segoe UI Semibold"/>
              </a:rPr>
              <a:t>Кейинги босқич: </a:t>
            </a:r>
            <a:r>
              <a:rPr sz="950" b="0" i="0">
                <a:solidFill>
                  <a:srgbClr val="EDEBEB"/>
                </a:solidFill>
                <a:latin typeface="Segoe UI"/>
              </a:rPr>
              <a:t>йиллик меҳнат таътили бўйича аризаларни электронлаштириш — тизим қамрови янада кенгайтирилади.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Корпоратив маданият ва коммуникациялар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06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Байрам тадбирлари, спорт, ижтимоий лойиҳалар ва ички канал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06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Корпоратив маданият: сентябрь тадбирлари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ADM Jizzakh Communication · 5 та тадбир ва Табель бўйича сўровнома натижасида 6 та чора-тадбир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30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4754880" cy="5120640"/>
          </a:xfrm>
          <a:prstGeom prst="roundRect">
            <a:avLst>
              <a:gd name="adj" fmla="val 153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СЕНТЯБРЬ ТАДБИРЛАРИ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103120"/>
            <a:ext cx="18288" cy="54864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13232" y="1691640"/>
            <a:ext cx="384048" cy="38404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" y="16916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62A30"/>
                </a:solidFill>
                <a:latin typeface="Segoe UI Semi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16733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ADM MS бўйича викторина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19659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ғолиб тақдирланди (25.09.2026)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2999232"/>
            <a:ext cx="18288" cy="54864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13232" y="2587752"/>
            <a:ext cx="384048" cy="38404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3232" y="25877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62A30"/>
                </a:solidFill>
                <a:latin typeface="Segoe UI Semibold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5694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Табель бўйича сўровнома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86207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натижалари ва чоралар — кейинги слайдда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3895344"/>
            <a:ext cx="18288" cy="54864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62A30"/>
                </a:solidFill>
                <a:latin typeface="Segoe UI Semibold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4655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«Менинг мактабим»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7581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4 ходим мактабида тақдирланди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" y="4791456"/>
            <a:ext cx="18288" cy="548640"/>
          </a:xfrm>
          <a:prstGeom prst="rect">
            <a:avLst/>
          </a:prstGeom>
          <a:solidFill>
            <a:srgbClr val="2A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13232" y="4379976"/>
            <a:ext cx="384048" cy="38404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43799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62A30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3616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«Раҳмат Day»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65429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ходимларга миннатдорлик тадбири</a:t>
            </a:r>
          </a:p>
        </p:txBody>
      </p:sp>
      <p:sp>
        <p:nvSpPr>
          <p:cNvPr id="39" name="Oval 38"/>
          <p:cNvSpPr/>
          <p:nvPr/>
        </p:nvSpPr>
        <p:spPr>
          <a:xfrm>
            <a:off x="713232" y="5276088"/>
            <a:ext cx="384048" cy="384048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3232" y="5276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62A30"/>
                </a:solidFill>
                <a:latin typeface="Segoe UI Semi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2578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DEBEB"/>
                </a:solidFill>
                <a:latin typeface="Segoe UI Semibold"/>
              </a:rPr>
              <a:t>Ички акциялар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5504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1 ходим Ишонч савдода Sonet автомобилини ютди</a:t>
            </a:r>
          </a:p>
        </p:txBody>
      </p:sp>
      <p:sp>
        <p:nvSpPr>
          <p:cNvPr id="43" name="!!c2"/>
          <p:cNvSpPr/>
          <p:nvPr/>
        </p:nvSpPr>
        <p:spPr>
          <a:xfrm>
            <a:off x="5394960" y="1188720"/>
            <a:ext cx="2011680" cy="5120640"/>
          </a:xfrm>
          <a:prstGeom prst="roundRect">
            <a:avLst>
              <a:gd name="adj" fmla="val 363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event1.jpg"/>
          <p:cNvPicPr>
            <a:picLocks noChangeAspect="1"/>
          </p:cNvPicPr>
          <p:nvPr/>
        </p:nvPicPr>
        <p:blipFill>
          <a:blip r:embed="rId3"/>
          <a:srcRect l="34536" r="34536"/>
          <a:stretch>
            <a:fillRect/>
          </a:stretch>
        </p:blipFill>
        <p:spPr>
          <a:xfrm>
            <a:off x="5486400" y="1280160"/>
            <a:ext cx="1828800" cy="44348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4864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DEBEB"/>
                </a:solidFill>
                <a:latin typeface="Segoe UI Semibold"/>
              </a:rPr>
              <a:t>«Менинг мактабим»</a:t>
            </a:r>
          </a:p>
        </p:txBody>
      </p:sp>
      <p:sp>
        <p:nvSpPr>
          <p:cNvPr id="46" name="!!c3"/>
          <p:cNvSpPr/>
          <p:nvPr/>
        </p:nvSpPr>
        <p:spPr>
          <a:xfrm>
            <a:off x="7516368" y="1188720"/>
            <a:ext cx="2011680" cy="5120640"/>
          </a:xfrm>
          <a:prstGeom prst="roundRect">
            <a:avLst>
              <a:gd name="adj" fmla="val 363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event2.jpg"/>
          <p:cNvPicPr>
            <a:picLocks noChangeAspect="1"/>
          </p:cNvPicPr>
          <p:nvPr/>
        </p:nvPicPr>
        <p:blipFill>
          <a:blip r:embed="rId4"/>
          <a:srcRect l="32289" r="32289"/>
          <a:stretch>
            <a:fillRect/>
          </a:stretch>
        </p:blipFill>
        <p:spPr>
          <a:xfrm>
            <a:off x="7607808" y="1280160"/>
            <a:ext cx="1828800" cy="44348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607808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DEBEB"/>
                </a:solidFill>
                <a:latin typeface="Segoe UI Semibold"/>
              </a:rPr>
              <a:t>«Раҳмат Day»</a:t>
            </a:r>
          </a:p>
        </p:txBody>
      </p:sp>
      <p:sp>
        <p:nvSpPr>
          <p:cNvPr id="49" name="!!c4"/>
          <p:cNvSpPr/>
          <p:nvPr/>
        </p:nvSpPr>
        <p:spPr>
          <a:xfrm>
            <a:off x="9637776" y="1188720"/>
            <a:ext cx="2011680" cy="5120640"/>
          </a:xfrm>
          <a:prstGeom prst="roundRect">
            <a:avLst>
              <a:gd name="adj" fmla="val 3636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event3.png"/>
          <p:cNvPicPr>
            <a:picLocks noChangeAspect="1"/>
          </p:cNvPicPr>
          <p:nvPr/>
        </p:nvPicPr>
        <p:blipFill>
          <a:blip r:embed="rId5"/>
          <a:srcRect l="13308" r="13308"/>
          <a:stretch>
            <a:fillRect/>
          </a:stretch>
        </p:blipFill>
        <p:spPr>
          <a:xfrm>
            <a:off x="9729216" y="1280160"/>
            <a:ext cx="1828800" cy="44348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729216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DEBEB"/>
                </a:solidFill>
                <a:latin typeface="Segoe UI Semibold"/>
              </a:rPr>
              <a:t>Sonet автомобили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06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Табель сўровномаси: натижа → чора-тадбир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МЕТИҲ — Меҳнатни ташкил этиш ва иш ҳақи бўлинмаси · ТТ — техник топшириқ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31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11201400" cy="5120640"/>
          </a:xfrm>
          <a:prstGeom prst="roundRect">
            <a:avLst>
              <a:gd name="adj" fmla="val 1428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1371600"/>
          <a:ext cx="10835640" cy="47365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7200"/>
                <a:gridCol w="2743200"/>
                <a:gridCol w="4297680"/>
                <a:gridCol w="1828800"/>
                <a:gridCol w="1508760"/>
              </a:tblGrid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CC6B8"/>
                          </a:solidFill>
                          <a:latin typeface="Segoe UI Semibold"/>
                        </a:rPr>
                        <a:t>№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 Semibold"/>
                        </a:rPr>
                        <a:t>Сўровнома натижаси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 Semibold"/>
                        </a:rPr>
                        <a:t>Чора-тадбир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 Semibold"/>
                        </a:rPr>
                        <a:t>Масъул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3CC6B8"/>
                          </a:solidFill>
                          <a:latin typeface="Segoe UI Semibold"/>
                        </a:rPr>
                        <a:t>Муддат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1F5F5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14% қониқмаган (25% қисман)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Норози ходимларни бўлим ва цех кесимида аниқлаб, сабабини бартараф этиш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Табель юритувчилар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5 иш куни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02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13% тартибни тушунмаган (28% тушунтириш сўраган)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«Табель ҳисобини юритиш тартиби» бўйича бригадир, сўнг ходимларни каскад ўқитиш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Етакчи табелчи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15 иш куни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03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24% жавобни кечикиб олган (13% олмаган)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Табелчилар цехларга бориб, мурожаатни жойида ҳал қилади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Табель юритувчилар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Доимий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04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26% ёпилган табель билан танишмаган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ADM Ҳақнома бот ва бўлимлардаги [GL…] орқали ёпилган табелни етказиш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Табелчилар, раҳбарлар, HR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Ҳар ой, ёпилгач 3 кунда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05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92% Telegram ботни қулай деган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IT билан бот: ходим ўз табели ва KPI ни кўради; аввал битта бўлинмада синов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IT бўлими, МЕТИҲ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ТТ тайёр; бот 30 кунда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F343B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06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CC6B8"/>
                          </a:solidFill>
                          <a:latin typeface="Segoe UI"/>
                        </a:rPr>
                        <a:t>Самарадорликни текшириш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Ижро ва мурожаат статистикаси ҳар ҳафта; якунда қайта сўровнома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МЕТИҲ бўлинмаси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EDEBEB"/>
                          </a:solidFill>
                          <a:latin typeface="Segoe UI"/>
                        </a:rPr>
                        <a:t>Ҳар ҳафта; якун 2 ойда</a:t>
                      </a:r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434A53"/>
                      </a:solidFill>
                    </a:lnB>
                    <a:solidFill>
                      <a:srgbClr val="2B30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6922008" y="-987552"/>
            <a:ext cx="8833104" cy="8833104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7978140" y="68580"/>
            <a:ext cx="6720840" cy="672084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8938260" y="1028700"/>
            <a:ext cx="4800600" cy="48006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9706356" y="1796796"/>
            <a:ext cx="3264408" cy="3264408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9322308" y="1412748"/>
            <a:ext cx="4032504" cy="4032504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8458200" y="548640"/>
            <a:ext cx="5760720" cy="576072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9525226" y="2353666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11020312" y="6231191"/>
            <a:ext cx="134417" cy="134417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c1"/>
          <p:cNvSpPr/>
          <p:nvPr/>
        </p:nvSpPr>
        <p:spPr>
          <a:xfrm>
            <a:off x="603504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c2"/>
          <p:cNvSpPr/>
          <p:nvPr/>
        </p:nvSpPr>
        <p:spPr>
          <a:xfrm>
            <a:off x="8915400" y="68580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c3"/>
          <p:cNvSpPr/>
          <p:nvPr/>
        </p:nvSpPr>
        <p:spPr>
          <a:xfrm>
            <a:off x="603504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!!c4"/>
          <p:cNvSpPr/>
          <p:nvPr/>
        </p:nvSpPr>
        <p:spPr>
          <a:xfrm>
            <a:off x="8915400" y="3566160"/>
            <a:ext cx="2743200" cy="2697480"/>
          </a:xfrm>
          <a:prstGeom prst="roundRect">
            <a:avLst>
              <a:gd name="adj" fmla="val 2711"/>
            </a:avLst>
          </a:prstGeom>
          <a:solidFill>
            <a:srgbClr val="2F343B">
              <a:alpha val="35000"/>
            </a:srgbClr>
          </a:solidFill>
          <a:ln w="9525">
            <a:solidFill>
              <a:srgbClr val="434A53">
                <a:alpha val="5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chT2"/>
          <p:cNvSpPr/>
          <p:nvPr/>
        </p:nvSpPr>
        <p:spPr>
          <a:xfrm rot="16200000">
            <a:off x="208026" y="2948940"/>
            <a:ext cx="960120" cy="864108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!!chA"/>
          <p:cNvSpPr/>
          <p:nvPr/>
        </p:nvSpPr>
        <p:spPr>
          <a:xfrm rot="1920323">
            <a:off x="784098" y="342121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chB"/>
          <p:cNvSpPr/>
          <p:nvPr/>
        </p:nvSpPr>
        <p:spPr>
          <a:xfrm rot="19679677">
            <a:off x="784098" y="2646409"/>
            <a:ext cx="1152144" cy="3869470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!!chT1"/>
          <p:cNvSpPr/>
          <p:nvPr/>
        </p:nvSpPr>
        <p:spPr>
          <a:xfrm rot="16200000">
            <a:off x="1600200" y="3140964"/>
            <a:ext cx="528066" cy="576072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itle"/>
          <p:cNvSpPr txBox="1"/>
          <p:nvPr/>
        </p:nvSpPr>
        <p:spPr>
          <a:xfrm>
            <a:off x="2880360" y="77724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DEBEB"/>
                </a:solidFill>
                <a:latin typeface="Segoe UI Light"/>
              </a:rPr>
              <a:t>Интизом бўйича</a:t>
            </a:r>
          </a:p>
        </p:txBody>
      </p:sp>
      <p:sp>
        <p:nvSpPr>
          <p:cNvPr id="19" name="!!num"/>
          <p:cNvSpPr txBox="1"/>
          <p:nvPr/>
        </p:nvSpPr>
        <p:spPr>
          <a:xfrm>
            <a:off x="2788920" y="23317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0" b="0" i="0">
                <a:solidFill>
                  <a:srgbClr val="EDEBEB"/>
                </a:solidFill>
                <a:latin typeface="Segoe UI Light"/>
              </a:rPr>
              <a:t>07</a:t>
            </a:r>
          </a:p>
        </p:txBody>
      </p:sp>
      <p:sp>
        <p:nvSpPr>
          <p:cNvPr id="20" name="!!acc"/>
          <p:cNvSpPr/>
          <p:nvPr/>
        </p:nvSpPr>
        <p:spPr>
          <a:xfrm>
            <a:off x="2971800" y="4343400"/>
            <a:ext cx="82296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!!sub"/>
          <p:cNvSpPr txBox="1"/>
          <p:nvPr/>
        </p:nvSpPr>
        <p:spPr>
          <a:xfrm>
            <a:off x="2971800" y="45262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9AA2AC"/>
                </a:solidFill>
                <a:latin typeface="Segoe UI"/>
              </a:rPr>
              <a:t>2025 ва 2026-йил солиштирмаси ҳамда янги ички тартиб қоидалари</a:t>
            </a:r>
          </a:p>
        </p:txBody>
      </p:sp>
      <p:pic>
        <p:nvPicPr>
          <p:cNvPr id="22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23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24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07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Интизом бўйича: 2025 ва 2026-йил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2026 — 9,5 ой (14-октябргача) · интизомий ҳолатлар 2025 йил билан солиштирилди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33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2697480" cy="1783080"/>
          </a:xfrm>
          <a:prstGeom prst="roundRect">
            <a:avLst>
              <a:gd name="adj" fmla="val 41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188720"/>
            <a:ext cx="2697480" cy="45720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4088" y="1344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ЙТҲ (ХОДИМ)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15727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5 →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" y="22128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2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4088" y="221284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8826E"/>
                </a:solidFill>
                <a:latin typeface="Segoe UI Semibold"/>
              </a:rPr>
              <a:t>2 баравар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5786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2 та шартнома тугатилди</a:t>
            </a:r>
          </a:p>
        </p:txBody>
      </p:sp>
      <p:sp>
        <p:nvSpPr>
          <p:cNvPr id="24" name="!!c2"/>
          <p:cNvSpPr/>
          <p:nvPr/>
        </p:nvSpPr>
        <p:spPr>
          <a:xfrm>
            <a:off x="3337560" y="1188720"/>
            <a:ext cx="2697480" cy="1783080"/>
          </a:xfrm>
          <a:prstGeom prst="roundRect">
            <a:avLst>
              <a:gd name="adj" fmla="val 41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337560" y="1188720"/>
            <a:ext cx="2697480" cy="4572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38728" y="1344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МАСЪУЛИЯТСИЗЛИК (ҲОЛАТ)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15727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46 → 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38728" y="22128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3CC6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38728" y="221284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CC6B8"/>
                </a:solidFill>
                <a:latin typeface="Segoe UI Semibold"/>
              </a:rPr>
              <a:t>−52%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25786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2025: 17 ходим</a:t>
            </a:r>
          </a:p>
        </p:txBody>
      </p:sp>
      <p:sp>
        <p:nvSpPr>
          <p:cNvPr id="31" name="!!c3"/>
          <p:cNvSpPr/>
          <p:nvPr/>
        </p:nvSpPr>
        <p:spPr>
          <a:xfrm>
            <a:off x="6172200" y="1188720"/>
            <a:ext cx="2697480" cy="1783080"/>
          </a:xfrm>
          <a:prstGeom prst="roundRect">
            <a:avLst>
              <a:gd name="adj" fmla="val 41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188720"/>
            <a:ext cx="2697480" cy="45720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73368" y="1344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МУШТЛАШУВ (ХОДИМ)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15727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2 → 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73368" y="22128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2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73368" y="221284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8826E"/>
                </a:solidFill>
                <a:latin typeface="Segoe UI Semibold"/>
              </a:rPr>
              <a:t>3 баравар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25786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1 → 3 ҳолат</a:t>
            </a:r>
          </a:p>
        </p:txBody>
      </p:sp>
      <p:sp>
        <p:nvSpPr>
          <p:cNvPr id="38" name="!!c4"/>
          <p:cNvSpPr/>
          <p:nvPr/>
        </p:nvSpPr>
        <p:spPr>
          <a:xfrm>
            <a:off x="9006840" y="1188720"/>
            <a:ext cx="2697480" cy="1783080"/>
          </a:xfrm>
          <a:prstGeom prst="roundRect">
            <a:avLst>
              <a:gd name="adj" fmla="val 410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06840" y="1188720"/>
            <a:ext cx="2697480" cy="45720"/>
          </a:xfrm>
          <a:prstGeom prst="rect">
            <a:avLst/>
          </a:prstGeom>
          <a:solidFill>
            <a:srgbClr val="E88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08008" y="13441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AA2AC"/>
                </a:solidFill>
                <a:latin typeface="Segoe UI Semibold"/>
              </a:rPr>
              <a:t>ТАЛОН-ТОРОЖ (ҲОЛАТ)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15727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EDEBEB"/>
                </a:solidFill>
                <a:latin typeface="Segoe UI Light"/>
              </a:rPr>
              <a:t>1 →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08008" y="22128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882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08008" y="221284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8826E"/>
                </a:solidFill>
                <a:latin typeface="Segoe UI Semibold"/>
              </a:rPr>
              <a:t>Ошган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8008" y="25786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5 ходим, 1 та шартнома бекор қилинди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108960"/>
            <a:ext cx="7040880" cy="3200400"/>
          </a:xfrm>
          <a:prstGeom prst="roundRect">
            <a:avLst>
              <a:gd name="adj" fmla="val 228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1520" y="322783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2025 ВА 2026 СОЛИШТИРМАСИ</a:t>
            </a:r>
          </a:p>
        </p:txBody>
      </p:sp>
      <p:graphicFrame>
        <p:nvGraphicFramePr>
          <p:cNvPr id="47" name="Chart 46"/>
          <p:cNvGraphicFramePr>
            <a:graphicFrameLocks noGrp="1"/>
          </p:cNvGraphicFramePr>
          <p:nvPr/>
        </p:nvGraphicFramePr>
        <p:xfrm>
          <a:off x="594360" y="3429000"/>
          <a:ext cx="685800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8" name="Rounded Rectangle 47"/>
          <p:cNvSpPr/>
          <p:nvPr/>
        </p:nvSpPr>
        <p:spPr>
          <a:xfrm>
            <a:off x="7680960" y="3108960"/>
            <a:ext cx="4023360" cy="3200400"/>
          </a:xfrm>
          <a:prstGeom prst="roundRect">
            <a:avLst>
              <a:gd name="adj" fmla="val 2285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909560" y="322783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CC6B8"/>
                </a:solidFill>
                <a:latin typeface="Segoe UI Semibold"/>
              </a:rPr>
              <a:t>ИШГА САБАБСИЗ ЧИҚМАСЛИК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347472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9AA2AC"/>
                </a:solidFill>
                <a:latin typeface="Segoe UI Light"/>
              </a:rPr>
              <a:t>10</a:t>
            </a:r>
            <a:r>
              <a:rPr sz="3600" b="0" i="0">
                <a:solidFill>
                  <a:srgbClr val="6B737D"/>
                </a:solidFill>
                <a:latin typeface="Segoe UI Light"/>
              </a:rPr>
              <a:t> → </a:t>
            </a:r>
            <a:r>
              <a:rPr sz="3600" b="0" i="0">
                <a:solidFill>
                  <a:srgbClr val="3CC6B8"/>
                </a:solidFill>
                <a:latin typeface="Segoe UI Light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4251960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AA2AC"/>
                </a:solidFill>
                <a:latin typeface="Segoe UI"/>
              </a:rPr>
              <a:t>Ҳақиқий пасайиш эмас: 1 кунлик прогуллар учун жазо тури таъсир чораларига ўзгартирилган.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09560" y="5120640"/>
            <a:ext cx="3611880" cy="1005840"/>
          </a:xfrm>
          <a:prstGeom prst="roundRect">
            <a:avLst>
              <a:gd name="adj" fmla="val 9090"/>
            </a:avLst>
          </a:prstGeom>
          <a:solidFill>
            <a:srgbClr val="E8826E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092440" y="512064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E8826E"/>
                </a:solidFill>
                <a:latin typeface="Segoe UI Light"/>
              </a:rPr>
              <a:t>69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12064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EDEBEB"/>
                </a:solidFill>
                <a:latin typeface="Segoe UI"/>
              </a:rPr>
              <a:t>2026-йилда ходим ишга сабабсиз келмаганлиги учун ишдан бўшаган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9564624" y="3895344"/>
            <a:ext cx="7571232" cy="7571232"/>
          </a:xfrm>
          <a:prstGeom prst="ellipse">
            <a:avLst/>
          </a:prstGeom>
          <a:solidFill>
            <a:srgbClr val="2B3037">
              <a:alpha val="55000"/>
            </a:srgbClr>
          </a:solidFill>
          <a:ln w="9525">
            <a:solidFill>
              <a:srgbClr val="3A4148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10469880" y="4800600"/>
            <a:ext cx="5760720" cy="5760720"/>
          </a:xfrm>
          <a:prstGeom prst="ellipse">
            <a:avLst/>
          </a:prstGeom>
          <a:solidFill>
            <a:srgbClr val="30353D">
              <a:alpha val="55000"/>
            </a:srgbClr>
          </a:solidFill>
          <a:ln w="9525">
            <a:solidFill>
              <a:srgbClr val="434A5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11292840" y="5623560"/>
            <a:ext cx="4114800" cy="4114800"/>
          </a:xfrm>
          <a:prstGeom prst="ellipse">
            <a:avLst/>
          </a:prstGeom>
          <a:solidFill>
            <a:srgbClr val="2A2F36">
              <a:alpha val="55000"/>
            </a:srgbClr>
          </a:solidFill>
          <a:ln w="9525">
            <a:solidFill>
              <a:srgbClr val="4B535C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11951208" y="6281928"/>
            <a:ext cx="2798064" cy="2798064"/>
          </a:xfrm>
          <a:prstGeom prst="ellipse">
            <a:avLst/>
          </a:prstGeom>
          <a:solidFill>
            <a:srgbClr val="343A42">
              <a:alpha val="55000"/>
            </a:srgbClr>
          </a:solidFill>
          <a:ln w="9525">
            <a:solidFill>
              <a:srgbClr val="58616B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chT2"/>
          <p:cNvSpPr/>
          <p:nvPr/>
        </p:nvSpPr>
        <p:spPr>
          <a:xfrm rot="16200000">
            <a:off x="-64008" y="676656"/>
            <a:ext cx="182880" cy="164592"/>
          </a:xfrm>
          <a:prstGeom prst="triangle">
            <a:avLst/>
          </a:prstGeom>
          <a:solidFill>
            <a:srgbClr val="2A8F86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chA"/>
          <p:cNvSpPr/>
          <p:nvPr/>
        </p:nvSpPr>
        <p:spPr>
          <a:xfrm rot="1920323">
            <a:off x="45720" y="180119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chB"/>
          <p:cNvSpPr/>
          <p:nvPr/>
        </p:nvSpPr>
        <p:spPr>
          <a:xfrm rot="19679677">
            <a:off x="45720" y="619031"/>
            <a:ext cx="219456" cy="737042"/>
          </a:xfrm>
          <a:prstGeom prst="roundRect">
            <a:avLst>
              <a:gd name="adj" fmla="val 50000"/>
            </a:avLst>
          </a:prstGeom>
          <a:solidFill>
            <a:srgbClr val="D9D6D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chT1"/>
          <p:cNvSpPr/>
          <p:nvPr/>
        </p:nvSpPr>
        <p:spPr>
          <a:xfrm rot="16200000">
            <a:off x="201168" y="713232"/>
            <a:ext cx="100584" cy="109728"/>
          </a:xfrm>
          <a:prstGeom prst="triangle">
            <a:avLst/>
          </a:prstGeom>
          <a:solidFill>
            <a:srgbClr val="3CC6B8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num"/>
          <p:cNvSpPr txBox="1"/>
          <p:nvPr/>
        </p:nvSpPr>
        <p:spPr>
          <a:xfrm>
            <a:off x="566928" y="47548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EDEBEB"/>
                </a:solidFill>
                <a:latin typeface="Segoe UI Light"/>
              </a:rPr>
              <a:t>07</a:t>
            </a:r>
          </a:p>
        </p:txBody>
      </p:sp>
      <p:sp>
        <p:nvSpPr>
          <p:cNvPr id="11" name="!!acc"/>
          <p:cNvSpPr/>
          <p:nvPr/>
        </p:nvSpPr>
        <p:spPr>
          <a:xfrm>
            <a:off x="1298448" y="548640"/>
            <a:ext cx="36576" cy="384048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itle"/>
          <p:cNvSpPr txBox="1"/>
          <p:nvPr/>
        </p:nvSpPr>
        <p:spPr>
          <a:xfrm>
            <a:off x="1463040" y="39319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EDEBEB"/>
                </a:solidFill>
                <a:latin typeface="Segoe UI Light"/>
              </a:rPr>
              <a:t>Интизом: 2026-йилдаги ўзгаришлар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1481328" y="8503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AA2AC"/>
                </a:solidFill>
                <a:latin typeface="Segoe UI"/>
              </a:rPr>
              <a:t>Интизомий жазолар қайта кўриб чиқилди ва ички меҳнат тартиби қоидалари янгиланди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  <p:sp>
        <p:nvSpPr>
          <p:cNvPr id="15" name="!!foot"/>
          <p:cNvSpPr txBox="1"/>
          <p:nvPr/>
        </p:nvSpPr>
        <p:spPr>
          <a:xfrm>
            <a:off x="502920" y="6492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37D"/>
                </a:solidFill>
                <a:latin typeface="Segoe UI"/>
              </a:rPr>
              <a:t>HRM | Ҳисобот 2026</a:t>
            </a:r>
          </a:p>
        </p:txBody>
      </p:sp>
      <p:sp>
        <p:nvSpPr>
          <p:cNvPr id="16" name="!!pg"/>
          <p:cNvSpPr txBox="1"/>
          <p:nvPr/>
        </p:nvSpPr>
        <p:spPr>
          <a:xfrm>
            <a:off x="1114013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3CC6B8"/>
                </a:solidFill>
                <a:latin typeface="Segoe UI Semibold"/>
              </a:rPr>
              <a:t>34</a:t>
            </a:r>
          </a:p>
        </p:txBody>
      </p:sp>
      <p:sp>
        <p:nvSpPr>
          <p:cNvPr id="17" name="!!c1"/>
          <p:cNvSpPr/>
          <p:nvPr/>
        </p:nvSpPr>
        <p:spPr>
          <a:xfrm>
            <a:off x="502920" y="1188720"/>
            <a:ext cx="6583680" cy="2468880"/>
          </a:xfrm>
          <a:prstGeom prst="roundRect">
            <a:avLst>
              <a:gd name="adj" fmla="val 296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2920" y="1188720"/>
            <a:ext cx="54864" cy="2468880"/>
          </a:xfrm>
          <a:prstGeom prst="rect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13258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0" i="0">
                <a:solidFill>
                  <a:srgbClr val="3CC6B8"/>
                </a:solidFill>
                <a:latin typeface="Segoe UI Light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C6B8"/>
                </a:solidFill>
                <a:latin typeface="Segoe UI Semibold"/>
              </a:rPr>
              <a:t>НАФАР ХОДИМ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011680"/>
            <a:ext cx="3749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DEBEB"/>
                </a:solidFill>
                <a:latin typeface="Segoe UI Light"/>
              </a:rPr>
              <a:t>Интизомий жазо чорасининг таъсири муддатидан олдин тугатилди</a:t>
            </a:r>
          </a:p>
        </p:txBody>
      </p:sp>
      <p:sp>
        <p:nvSpPr>
          <p:cNvPr id="22" name="!!c2"/>
          <p:cNvSpPr/>
          <p:nvPr/>
        </p:nvSpPr>
        <p:spPr>
          <a:xfrm>
            <a:off x="502920" y="3794760"/>
            <a:ext cx="6583680" cy="2514600"/>
          </a:xfrm>
          <a:prstGeom prst="roundRect">
            <a:avLst>
              <a:gd name="adj" fmla="val 2909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68680" y="4206240"/>
            <a:ext cx="1463040" cy="1463040"/>
          </a:xfrm>
          <a:prstGeom prst="ellipse">
            <a:avLst/>
          </a:prstGeom>
          <a:solidFill>
            <a:srgbClr val="1F5F5A"/>
          </a:solidFill>
          <a:ln w="19050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0" i="0">
                <a:solidFill>
                  <a:srgbClr val="3CC6B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343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C6B8"/>
                </a:solidFill>
                <a:latin typeface="Segoe UI Semibold"/>
              </a:rPr>
              <a:t>ЯНГИ ТАҲРИР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66344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EDEBEB"/>
                </a:solidFill>
                <a:latin typeface="Segoe UI Light"/>
              </a:rPr>
              <a:t>Ички меҳнат тартиби қоидалари тасдиқланди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577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2AC"/>
                </a:solidFill>
                <a:latin typeface="Segoe UI"/>
              </a:rPr>
              <a:t>ҳужжат ўнгда →</a:t>
            </a:r>
          </a:p>
        </p:txBody>
      </p:sp>
      <p:sp>
        <p:nvSpPr>
          <p:cNvPr id="28" name="!!c3"/>
          <p:cNvSpPr/>
          <p:nvPr/>
        </p:nvSpPr>
        <p:spPr>
          <a:xfrm>
            <a:off x="7223760" y="1188720"/>
            <a:ext cx="4480560" cy="5120640"/>
          </a:xfrm>
          <a:prstGeom prst="roundRect">
            <a:avLst>
              <a:gd name="adj" fmla="val 1632"/>
            </a:avLst>
          </a:prstGeom>
          <a:solidFill>
            <a:srgbClr val="2F343B"/>
          </a:solidFill>
          <a:ln w="6350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97" y="1280160"/>
            <a:ext cx="3484686" cy="493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4"/>
          <p:cNvSpPr/>
          <p:nvPr/>
        </p:nvSpPr>
        <p:spPr>
          <a:xfrm>
            <a:off x="2099920" y="-1069848"/>
            <a:ext cx="7991856" cy="7991856"/>
          </a:xfrm>
          <a:prstGeom prst="ellipse">
            <a:avLst/>
          </a:prstGeom>
          <a:solidFill>
            <a:srgbClr val="2B3037"/>
          </a:solidFill>
          <a:ln w="9525">
            <a:solidFill>
              <a:srgbClr val="3A4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r3"/>
          <p:cNvSpPr/>
          <p:nvPr/>
        </p:nvSpPr>
        <p:spPr>
          <a:xfrm>
            <a:off x="3055468" y="-114300"/>
            <a:ext cx="6080760" cy="6080760"/>
          </a:xfrm>
          <a:prstGeom prst="ellipse">
            <a:avLst/>
          </a:prstGeom>
          <a:solidFill>
            <a:srgbClr val="30353D"/>
          </a:solidFill>
          <a:ln w="9525">
            <a:solidFill>
              <a:srgbClr val="434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r2"/>
          <p:cNvSpPr/>
          <p:nvPr/>
        </p:nvSpPr>
        <p:spPr>
          <a:xfrm>
            <a:off x="3924148" y="754380"/>
            <a:ext cx="4343400" cy="4343400"/>
          </a:xfrm>
          <a:prstGeom prst="ellipse">
            <a:avLst/>
          </a:prstGeom>
          <a:solidFill>
            <a:srgbClr val="2A2F36"/>
          </a:solidFill>
          <a:ln w="9525">
            <a:solidFill>
              <a:srgbClr val="4B53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!!r1"/>
          <p:cNvSpPr/>
          <p:nvPr/>
        </p:nvSpPr>
        <p:spPr>
          <a:xfrm>
            <a:off x="4619092" y="1449324"/>
            <a:ext cx="2953512" cy="2953512"/>
          </a:xfrm>
          <a:prstGeom prst="ellipse">
            <a:avLst/>
          </a:prstGeom>
          <a:solidFill>
            <a:srgbClr val="343A42"/>
          </a:solidFill>
          <a:ln w="9525">
            <a:solidFill>
              <a:srgbClr val="58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!!arc"/>
          <p:cNvSpPr/>
          <p:nvPr/>
        </p:nvSpPr>
        <p:spPr>
          <a:xfrm>
            <a:off x="4271620" y="1101852"/>
            <a:ext cx="3648456" cy="3648456"/>
          </a:xfrm>
          <a:prstGeom prst="arc">
            <a:avLst>
              <a:gd name="adj1" fmla="val -15000000"/>
              <a:gd name="adj2" fmla="val -4000000"/>
            </a:avLst>
          </a:prstGeom>
          <a:noFill/>
          <a:ln w="28575">
            <a:solidFill>
              <a:srgbClr val="3C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rc2"/>
          <p:cNvSpPr/>
          <p:nvPr/>
        </p:nvSpPr>
        <p:spPr>
          <a:xfrm>
            <a:off x="3489808" y="320040"/>
            <a:ext cx="5212080" cy="5212080"/>
          </a:xfrm>
          <a:prstGeom prst="arc">
            <a:avLst>
              <a:gd name="adj1" fmla="val 2000000"/>
              <a:gd name="adj2" fmla="val 9500000"/>
            </a:avLst>
          </a:prstGeom>
          <a:noFill/>
          <a:ln w="15875">
            <a:solidFill>
              <a:srgbClr val="2A8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!!dot1"/>
          <p:cNvSpPr/>
          <p:nvPr/>
        </p:nvSpPr>
        <p:spPr>
          <a:xfrm>
            <a:off x="4455212" y="1953158"/>
            <a:ext cx="121615" cy="121615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!!dot2"/>
          <p:cNvSpPr/>
          <p:nvPr/>
        </p:nvSpPr>
        <p:spPr>
          <a:xfrm>
            <a:off x="5807909" y="5461396"/>
            <a:ext cx="121615" cy="121615"/>
          </a:xfrm>
          <a:prstGeom prst="ellipse">
            <a:avLst/>
          </a:prstGeom>
          <a:solidFill>
            <a:srgbClr val="3C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disc"/>
          <p:cNvSpPr/>
          <p:nvPr/>
        </p:nvSpPr>
        <p:spPr>
          <a:xfrm>
            <a:off x="5272888" y="2103120"/>
            <a:ext cx="1645920" cy="1645920"/>
          </a:xfrm>
          <a:prstGeom prst="ellipse">
            <a:avLst/>
          </a:prstGeom>
          <a:solidFill>
            <a:srgbClr val="E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!!mark" descr="mark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990" y="2465222"/>
            <a:ext cx="921715" cy="921715"/>
          </a:xfrm>
          <a:prstGeom prst="rect">
            <a:avLst/>
          </a:prstGeom>
        </p:spPr>
      </p:pic>
      <p:sp>
        <p:nvSpPr>
          <p:cNvPr id="12" name="!!title"/>
          <p:cNvSpPr txBox="1"/>
          <p:nvPr/>
        </p:nvSpPr>
        <p:spPr>
          <a:xfrm>
            <a:off x="2438248" y="5532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0">
                <a:solidFill>
                  <a:srgbClr val="EDEBEB"/>
                </a:solidFill>
                <a:latin typeface="Segoe UI Light"/>
              </a:rPr>
              <a:t>Эътиборингиз учун раҳмат!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2438248" y="6080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AA2AC"/>
                </a:solidFill>
                <a:latin typeface="Segoe UI"/>
              </a:rPr>
              <a:t>Саволлар бўлса, марҳамат</a:t>
            </a:r>
          </a:p>
        </p:txBody>
      </p:sp>
      <p:pic>
        <p:nvPicPr>
          <p:cNvPr id="14" name="!!brand" descr="word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2880"/>
            <a:ext cx="777240" cy="307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