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Qamrov va davomat" id="{91d849a2-6b49-85ec-fa37-059476a43080}">
          <p14:sldIdLst>
            <p14:sldId id="256"/>
          </p14:sldIdLst>
        </p14:section>
        <p14:section name="Bo‘limlar va kompetensiya" id="{1d1cfc0b-70ea-0e0e-77ec-a80a8cb379e2}">
          <p14:sldIdLst>
            <p14:sldId id="257"/>
          </p14:sldIdLst>
        </p14:section>
        <p14:section name="KPI va choralar" id="{10413aa8-26cc-064a-172d-35e02b8dac68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4213D"/>
                </a:solidFill>
                <a:latin typeface="+mj-lt"/>
              </a:defRPr>
            </a:pPr>
            <a:r>
              <a:rPr sz="1400" b="1" i="0" u="none" strike="noStrike">
                <a:solidFill>
                  <a:srgbClr val="14213D"/>
                </a:solidFill>
                <a:latin typeface="+mj-lt"/>
              </a:rPr>
              <a:t>Oyda kamida 1 darsga qatnashganlar, 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Qamrov, %</c:v>
                </c:pt>
              </c:strCache>
            </c:strRef>
          </c:tx>
          <c:spPr>
            <a:solidFill>
              <a:srgbClr val="14213D"/>
            </a:solidFill>
            <a:ln w="3810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Aprel</c:v>
                  </c:pt>
                  <c:pt idx="1">
                    <c:v>May</c:v>
                  </c:pt>
                  <c:pt idx="2">
                    <c:v>Iyun</c:v>
                  </c:pt>
                  <c:pt idx="3">
                    <c:v>Iyul</c:v>
                  </c:pt>
                  <c:pt idx="4">
                    <c:v>Avgust</c:v>
                  </c:pt>
                  <c:pt idx="5">
                    <c:v>Sentabr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96.6</c:v>
                </c:pt>
                <c:pt idx="1">
                  <c:v>94.7</c:v>
                </c:pt>
                <c:pt idx="2">
                  <c:v>96.7</c:v>
                </c:pt>
                <c:pt idx="3">
                  <c:v>95.3</c:v>
                </c:pt>
                <c:pt idx="4">
                  <c:v>91.2</c:v>
                </c:pt>
                <c:pt idx="5">
                  <c:v>85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9525" cap="flat">
              <a:solidFill>
                <a:srgbClr val="DD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4213D"/>
                </a:solidFill>
                <a:latin typeface="+mj-lt"/>
              </a:defRPr>
            </a:pPr>
            <a:r>
              <a:rPr sz="1400" b="1" i="0" u="none" strike="noStrike">
                <a:solidFill>
                  <a:srgbClr val="14213D"/>
                </a:solidFill>
                <a:latin typeface="+mj-lt"/>
              </a:rPr>
              <a:t>Oyda birorta darsga kelmagan brigadirlar, nafar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Kelmaganlar</c:v>
                </c:pt>
              </c:strCache>
            </c:strRef>
          </c:tx>
          <c:spPr>
            <a:solidFill>
              <a:srgbClr val="9AA7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Aprel</c:v>
                  </c:pt>
                  <c:pt idx="1">
                    <c:v>May</c:v>
                  </c:pt>
                  <c:pt idx="2">
                    <c:v>Iyun</c:v>
                  </c:pt>
                  <c:pt idx="3">
                    <c:v>Iyul</c:v>
                  </c:pt>
                  <c:pt idx="4">
                    <c:v>Avgust</c:v>
                  </c:pt>
                  <c:pt idx="5">
                    <c:v>Sentabr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8</c:v>
                </c:pt>
                <c:pt idx="2">
                  <c:v>5</c:v>
                </c:pt>
                <c:pt idx="3">
                  <c:v>7</c:v>
                </c:pt>
                <c:pt idx="4">
                  <c:v>13</c:v>
                </c:pt>
                <c:pt idx="5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4213D"/>
                </a:solidFill>
                <a:latin typeface="+mj-lt"/>
              </a:defRPr>
            </a:pPr>
            <a:r>
              <a:rPr sz="1400" b="1" i="0" u="none" strike="noStrike">
                <a:solidFill>
                  <a:srgbClr val="14213D"/>
                </a:solidFill>
                <a:latin typeface="+mj-lt"/>
              </a:rPr>
              <a:t>O‘rtacha oylik qatnashuv, % (6 oy)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Qatnashuv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Uskunalar</c:v>
                  </c:pt>
                  <c:pt idx="1">
                    <c:v>SKD</c:v>
                  </c:pt>
                  <c:pt idx="2">
                    <c:v>Payvandlash</c:v>
                  </c:pt>
                  <c:pt idx="3">
                    <c:v>Ma’muriy xizmat</c:v>
                  </c:pt>
                  <c:pt idx="4">
                    <c:v>Ta’minot</c:v>
                  </c:pt>
                  <c:pt idx="5">
                    <c:v>Yig‘uv</c:v>
                  </c:pt>
                  <c:pt idx="6">
                    <c:v>Sifat nazorati</c:v>
                  </c:pt>
                  <c:pt idx="7">
                    <c:v>Bo‘yoqlash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66.7</c:v>
                </c:pt>
                <c:pt idx="1">
                  <c:v>89.4</c:v>
                </c:pt>
                <c:pt idx="2">
                  <c:v>91</c:v>
                </c:pt>
                <c:pt idx="3">
                  <c:v>91.7</c:v>
                </c:pt>
                <c:pt idx="4">
                  <c:v>94.3</c:v>
                </c:pt>
                <c:pt idx="5">
                  <c:v>94.3</c:v>
                </c:pt>
                <c:pt idx="6">
                  <c:v>95.5</c:v>
                </c:pt>
                <c:pt idx="7">
                  <c:v>97.7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Iyundan sentabrgacha qamrov 11,7 foiz punktga kamaydi (96,7% → 85,0%). Kelmaganlar iyuldagi 7 nafardan sentabrda 23 nafarga oshdi. 94,5% — olti oyda kamida bir marta qatnashish, kurs tugatish emas. Rahbarlar uchun 45,7% — qayd ulushi, o‘quv rejasini bajarish foizi 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Uskunalar guruhida 3 brigadir: Sh. Ikramovning iyul va avgustdagi qatnashuvi yo‘q. Sentabrda kelmagan 23 nafar: Payvandlash 7, Ta’minot 5, Sifat 3, Ma’muriy xizmat 3, SKD 2, qolganlari 1 tadan. Kompetensiya baholashi avgust–sentabrda o‘tkazilgan, oldingi baho yo‘qligi sabab o‘sish hisoblanmadi. Sifatdagi eng past komponentlar: ADM MS 34,2%, yo‘qotishlar 34,2%, WPO 39,4%.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73,9% — sentabrdagi brigadir dars qaydi ulushi (339/459), 90% mezondan 16,1 f.p. past. Bu butun Akademiya KPI yakuni emas. 76,8% kompetensiya bali ≥85% samaradorlik KPI bilan bir xil o‘lchov emas. 120 qoldirilgan qatnashuv 120 nafar xodim degani emas. Choralar — tahliliy taklif, tasdiqlangan topshiriq 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969264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9966960" y="3474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ADM ACADEMY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457200" y="6419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2026-yil 1-aprel – 30-sentabr • Manba: ADM Academy oylik davomat jurnallari va baholash varaqlari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Qamrov yuqori, lekin sentabrda davomat pasaydi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6 oylik o‘qitish va kompetensiya natijalari · 2026-yil 1-aprel – 30-sentabr</a:t>
            </a:r>
            <a:endParaRPr lang="en-US" sz="1500" dirty="0"/>
          </a:p>
        </p:txBody>
      </p:sp>
      <p:sp>
        <p:nvSpPr>
          <p:cNvPr id="4" name="kpi1 card"/>
          <p:cNvSpPr/>
          <p:nvPr/>
        </p:nvSpPr>
        <p:spPr>
          <a:xfrm>
            <a:off x="457200" y="15087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5" name="kpi1 value"/>
          <p:cNvSpPr txBox="1"/>
          <p:nvPr/>
        </p:nvSpPr>
        <p:spPr>
          <a:xfrm>
            <a:off x="685800" y="1618488"/>
            <a:ext cx="219456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94,5%</a:t>
            </a:r>
            <a:endParaRPr lang="en-US" sz="3400" dirty="0"/>
          </a:p>
        </p:txBody>
      </p:sp>
      <p:sp>
        <p:nvSpPr>
          <p:cNvPr id="6" name="kpi1 label"/>
          <p:cNvSpPr txBox="1"/>
          <p:nvPr/>
        </p:nvSpPr>
        <p:spPr>
          <a:xfrm>
            <a:off x="685800" y="2284628"/>
            <a:ext cx="2194560" cy="52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Brigadirlar qamrovi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165 nafardan 156 nafari kamida bir marta qatnashgan</a:t>
            </a:r>
            <a:endParaRPr lang="en-US" sz="1400" dirty="0"/>
          </a:p>
        </p:txBody>
      </p:sp>
      <p:sp>
        <p:nvSpPr>
          <p:cNvPr id="7" name="kpi2 card"/>
          <p:cNvSpPr/>
          <p:nvPr/>
        </p:nvSpPr>
        <p:spPr>
          <a:xfrm>
            <a:off x="3322015" y="15087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8" name="kpi2 value"/>
          <p:cNvSpPr txBox="1"/>
          <p:nvPr/>
        </p:nvSpPr>
        <p:spPr>
          <a:xfrm>
            <a:off x="3550615" y="1618488"/>
            <a:ext cx="219456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2 865</a:t>
            </a:r>
            <a:endParaRPr lang="en-US" sz="3400" dirty="0"/>
          </a:p>
        </p:txBody>
      </p:sp>
      <p:sp>
        <p:nvSpPr>
          <p:cNvPr id="9" name="kpi2 label"/>
          <p:cNvSpPr txBox="1"/>
          <p:nvPr/>
        </p:nvSpPr>
        <p:spPr>
          <a:xfrm>
            <a:off x="3550615" y="2284628"/>
            <a:ext cx="2194560" cy="52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Brigadir qatnashuvi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Barcha darslardagi qatnashuvlar yig‘indisi</a:t>
            </a:r>
            <a:endParaRPr lang="en-US" sz="1400" dirty="0"/>
          </a:p>
        </p:txBody>
      </p:sp>
      <p:sp>
        <p:nvSpPr>
          <p:cNvPr id="10" name="kpi3 card"/>
          <p:cNvSpPr/>
          <p:nvPr/>
        </p:nvSpPr>
        <p:spPr>
          <a:xfrm>
            <a:off x="6186830" y="15087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1" name="kpi3 value"/>
          <p:cNvSpPr txBox="1"/>
          <p:nvPr/>
        </p:nvSpPr>
        <p:spPr>
          <a:xfrm>
            <a:off x="6415430" y="1618488"/>
            <a:ext cx="219456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45,7%</a:t>
            </a:r>
            <a:endParaRPr lang="en-US" sz="3400" dirty="0"/>
          </a:p>
        </p:txBody>
      </p:sp>
      <p:sp>
        <p:nvSpPr>
          <p:cNvPr id="12" name="kpi3 label"/>
          <p:cNvSpPr txBox="1"/>
          <p:nvPr/>
        </p:nvSpPr>
        <p:spPr>
          <a:xfrm>
            <a:off x="6415430" y="2284628"/>
            <a:ext cx="2194560" cy="52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Rahbarlar qatnashuvi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35 rahbar, 13 mavzu: 455 imkoniyatdan 208 qayd</a:t>
            </a:r>
            <a:endParaRPr lang="en-US" sz="1400" dirty="0"/>
          </a:p>
        </p:txBody>
      </p:sp>
      <p:sp>
        <p:nvSpPr>
          <p:cNvPr id="13" name="kpi4 card"/>
          <p:cNvSpPr/>
          <p:nvPr/>
        </p:nvSpPr>
        <p:spPr>
          <a:xfrm>
            <a:off x="9051646" y="15087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4" name="kpi4 value"/>
          <p:cNvSpPr txBox="1"/>
          <p:nvPr/>
        </p:nvSpPr>
        <p:spPr>
          <a:xfrm>
            <a:off x="9280246" y="1618488"/>
            <a:ext cx="219456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23 nafar</a:t>
            </a:r>
            <a:endParaRPr lang="en-US" sz="3400" dirty="0"/>
          </a:p>
        </p:txBody>
      </p:sp>
      <p:sp>
        <p:nvSpPr>
          <p:cNvPr id="15" name="kpi4 label"/>
          <p:cNvSpPr txBox="1"/>
          <p:nvPr/>
        </p:nvSpPr>
        <p:spPr>
          <a:xfrm>
            <a:off x="9280246" y="2284628"/>
            <a:ext cx="2194560" cy="52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Sentabrda darsga kelmagan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Aprelda 5 nafar edi</a:t>
            </a:r>
            <a:endParaRPr lang="en-US" sz="1400" dirty="0"/>
          </a:p>
        </p:txBody>
      </p:sp>
      <p:graphicFrame>
        <p:nvGraphicFramePr>
          <p:cNvPr id="16" name="coverage chart" descr=""/>
          <p:cNvGraphicFramePr/>
          <p:nvPr/>
        </p:nvGraphicFramePr>
        <p:xfrm>
          <a:off x="457200" y="3154680"/>
          <a:ext cx="5532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absent chart" descr=""/>
          <p:cNvGraphicFramePr/>
          <p:nvPr/>
        </p:nvGraphicFramePr>
        <p:xfrm>
          <a:off x="6217920" y="3154680"/>
          <a:ext cx="5532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Sifat yo‘nalishida kompetensiya eng past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Bo‘limlar kesimida davomat va 341 xodimning kompetensiya bahosi</a:t>
            </a:r>
            <a:endParaRPr lang="en-US" sz="1500" dirty="0"/>
          </a:p>
        </p:txBody>
      </p:sp>
      <p:graphicFrame>
        <p:nvGraphicFramePr>
          <p:cNvPr id="4" name="dept chart" descr=""/>
          <p:cNvGraphicFramePr/>
          <p:nvPr/>
        </p:nvGraphicFramePr>
        <p:xfrm>
          <a:off x="457200" y="1508760"/>
          <a:ext cx="5212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avg card"/>
          <p:cNvSpPr/>
          <p:nvPr/>
        </p:nvSpPr>
        <p:spPr>
          <a:xfrm>
            <a:off x="5989320" y="1508760"/>
            <a:ext cx="27432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6" name="avg value"/>
          <p:cNvSpPr txBox="1"/>
          <p:nvPr/>
        </p:nvSpPr>
        <p:spPr>
          <a:xfrm>
            <a:off x="6217920" y="1618488"/>
            <a:ext cx="2286000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76,8%</a:t>
            </a:r>
            <a:endParaRPr lang="en-US" sz="3400" dirty="0"/>
          </a:p>
        </p:txBody>
      </p:sp>
      <p:sp>
        <p:nvSpPr>
          <p:cNvPr id="7" name="avg label"/>
          <p:cNvSpPr txBox="1"/>
          <p:nvPr/>
        </p:nvSpPr>
        <p:spPr>
          <a:xfrm>
            <a:off x="6217920" y="2241652"/>
            <a:ext cx="2286000" cy="486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O‘rtacha ball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585 maksimal ballga nisbatan</a:t>
            </a:r>
            <a:endParaRPr lang="en-US" sz="1400" dirty="0"/>
          </a:p>
        </p:txBody>
      </p:sp>
      <p:sp>
        <p:nvSpPr>
          <p:cNvPr id="8" name="low card"/>
          <p:cNvSpPr/>
          <p:nvPr/>
        </p:nvSpPr>
        <p:spPr>
          <a:xfrm>
            <a:off x="9006840" y="1508760"/>
            <a:ext cx="27432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9" name="low value"/>
          <p:cNvSpPr txBox="1"/>
          <p:nvPr/>
        </p:nvSpPr>
        <p:spPr>
          <a:xfrm>
            <a:off x="9235440" y="1618488"/>
            <a:ext cx="2286000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108 nafar</a:t>
            </a:r>
            <a:endParaRPr lang="en-US" sz="3400" dirty="0"/>
          </a:p>
        </p:txBody>
      </p:sp>
      <p:sp>
        <p:nvSpPr>
          <p:cNvPr id="10" name="low label"/>
          <p:cNvSpPr txBox="1"/>
          <p:nvPr/>
        </p:nvSpPr>
        <p:spPr>
          <a:xfrm>
            <a:off x="9235440" y="2241652"/>
            <a:ext cx="2286000" cy="486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70%dan past natija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Ularning 72,2%i Sifatda</a:t>
            </a:r>
            <a:endParaRPr lang="en-US" sz="1400" dirty="0"/>
          </a:p>
        </p:txBody>
      </p:sp>
      <p:graphicFrame>
        <p:nvGraphicFramePr>
          <p:cNvPr id="3" name="competenc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306324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28016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Yo‘nalish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Xodim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O‘rtacha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70%dan past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Yig‘uv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Bo‘yoqlash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Ta’mirlash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79,9%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Uskunalar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competency note"/>
          <p:cNvSpPr txBox="1"/>
          <p:nvPr/>
        </p:nvSpPr>
        <p:spPr>
          <a:xfrm>
            <a:off x="5989320" y="5852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Sifat 78 va Yig‘uv 28 xodim — maqsadli o‘qitishga. 70% — tahliliy chegara, rasmiy attestatsiya mezoni emas.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KPI tafovutlari va keyingi 30 kun choralari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Sentabr rejalari, ijro dalili va boshqaruv takliflari</a:t>
            </a:r>
            <a:endParaRPr lang="en-US" sz="1500" dirty="0"/>
          </a:p>
        </p:txBody>
      </p:sp>
      <p:graphicFrame>
        <p:nvGraphicFramePr>
          <p:cNvPr id="4" name="kpi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6675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Ko‘rsatkich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Brigadir davomati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73,9% (−16,1 f.p.)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Dars bahosi va samaradorligi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/ ≥85%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oylik yakun aniqlanmadi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 MS prinsiplari darsi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ta/oy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Ijro reyestri kerak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PowerPoint mashg‘uloti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ta/oy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Yakun tasdig‘i kerak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orqali tahlil tizimi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Ishga tushirish dalili yo‘q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darajali BPD tizimi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Ijro foizi tasdiqlanmagan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asons head"/>
          <p:cNvSpPr txBox="1"/>
          <p:nvPr/>
        </p:nvSpPr>
        <p:spPr>
          <a:xfrm>
            <a:off x="457200" y="4434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Sentabr: 120 ta qoldirilgan qatnashuv sababi</a:t>
            </a:r>
            <a:endParaRPr lang="en-US" sz="1500" dirty="0"/>
          </a:p>
        </p:txBody>
      </p:sp>
      <p:sp>
        <p:nvSpPr>
          <p:cNvPr id="6" name="reason card 1"/>
          <p:cNvSpPr/>
          <p:nvPr/>
        </p:nvSpPr>
        <p:spPr>
          <a:xfrm>
            <a:off x="457200" y="4846320"/>
            <a:ext cx="21031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7" name="reason value 1"/>
          <p:cNvSpPr txBox="1"/>
          <p:nvPr/>
        </p:nvSpPr>
        <p:spPr>
          <a:xfrm>
            <a:off x="640080" y="491947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67</a:t>
            </a:r>
            <a:endParaRPr lang="en-US" sz="3600" dirty="0"/>
          </a:p>
        </p:txBody>
      </p:sp>
      <p:sp>
        <p:nvSpPr>
          <p:cNvPr id="8" name="reason label 1"/>
          <p:cNvSpPr txBox="1"/>
          <p:nvPr/>
        </p:nvSpPr>
        <p:spPr>
          <a:xfrm>
            <a:off x="640080" y="5669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Ta’til</a:t>
            </a:r>
            <a:endParaRPr lang="en-US" sz="1400" dirty="0"/>
          </a:p>
        </p:txBody>
      </p:sp>
      <p:sp>
        <p:nvSpPr>
          <p:cNvPr id="9" name="reason card 2"/>
          <p:cNvSpPr/>
          <p:nvPr/>
        </p:nvSpPr>
        <p:spPr>
          <a:xfrm>
            <a:off x="2743200" y="4846320"/>
            <a:ext cx="21031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reason value 2"/>
          <p:cNvSpPr txBox="1"/>
          <p:nvPr/>
        </p:nvSpPr>
        <p:spPr>
          <a:xfrm>
            <a:off x="2926080" y="491947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29</a:t>
            </a:r>
            <a:endParaRPr lang="en-US" sz="3600" dirty="0"/>
          </a:p>
        </p:txBody>
      </p:sp>
      <p:sp>
        <p:nvSpPr>
          <p:cNvPr id="11" name="reason label 2"/>
          <p:cNvSpPr txBox="1"/>
          <p:nvPr/>
        </p:nvSpPr>
        <p:spPr>
          <a:xfrm>
            <a:off x="2926080" y="5669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Qatnashmagan</a:t>
            </a:r>
            <a:endParaRPr lang="en-US" sz="1400" dirty="0"/>
          </a:p>
        </p:txBody>
      </p:sp>
      <p:sp>
        <p:nvSpPr>
          <p:cNvPr id="12" name="reason card 3"/>
          <p:cNvSpPr/>
          <p:nvPr/>
        </p:nvSpPr>
        <p:spPr>
          <a:xfrm>
            <a:off x="5029200" y="4846320"/>
            <a:ext cx="21031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3" name="reason value 3"/>
          <p:cNvSpPr txBox="1"/>
          <p:nvPr/>
        </p:nvSpPr>
        <p:spPr>
          <a:xfrm>
            <a:off x="5212080" y="491947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24</a:t>
            </a:r>
            <a:endParaRPr lang="en-US" sz="3600" dirty="0"/>
          </a:p>
        </p:txBody>
      </p:sp>
      <p:sp>
        <p:nvSpPr>
          <p:cNvPr id="14" name="reason label 3"/>
          <p:cNvSpPr txBox="1"/>
          <p:nvPr/>
        </p:nvSpPr>
        <p:spPr>
          <a:xfrm>
            <a:off x="5212080" y="5669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Sababi yozilmagan</a:t>
            </a:r>
            <a:endParaRPr lang="en-US" sz="1400" dirty="0"/>
          </a:p>
        </p:txBody>
      </p:sp>
      <p:sp>
        <p:nvSpPr>
          <p:cNvPr id="15" name="action card 1"/>
          <p:cNvSpPr/>
          <p:nvPr/>
        </p:nvSpPr>
        <p:spPr>
          <a:xfrm>
            <a:off x="7406640" y="1508760"/>
            <a:ext cx="434340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6" name="action icon bg 1"/>
          <p:cNvSpPr/>
          <p:nvPr/>
        </p:nvSpPr>
        <p:spPr>
          <a:xfrm>
            <a:off x="7589520" y="16916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action icon 1" descr="1. Davomatni tikla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1810512"/>
            <a:ext cx="265176" cy="265176"/>
          </a:xfrm>
          <a:prstGeom prst="rect">
            <a:avLst/>
          </a:prstGeom>
        </p:spPr>
      </p:pic>
      <p:sp>
        <p:nvSpPr>
          <p:cNvPr id="18" name="action head 1"/>
          <p:cNvSpPr txBox="1"/>
          <p:nvPr/>
        </p:nvSpPr>
        <p:spPr>
          <a:xfrm>
            <a:off x="8275320" y="1645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1. Davomatni tiklash</a:t>
            </a:r>
            <a:endParaRPr lang="en-US" sz="1500" dirty="0"/>
          </a:p>
        </p:txBody>
      </p:sp>
      <p:sp>
        <p:nvSpPr>
          <p:cNvPr id="19" name="action body 1"/>
          <p:cNvSpPr txBox="1"/>
          <p:nvPr/>
        </p:nvSpPr>
        <p:spPr>
          <a:xfrm>
            <a:off x="8275320" y="2011680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Ta’til va smenaga mos qo‘shimcha darslar. Payvandlash (7) va Ta’minot (5) birinchi navbatda; Sh. Ikramov va I. Rustamov bo‘yicha sabab aniqlansin.</a:t>
            </a:r>
            <a:endParaRPr lang="en-US" sz="1200" dirty="0"/>
          </a:p>
        </p:txBody>
      </p:sp>
      <p:sp>
        <p:nvSpPr>
          <p:cNvPr id="20" name="action card 2"/>
          <p:cNvSpPr/>
          <p:nvPr/>
        </p:nvSpPr>
        <p:spPr>
          <a:xfrm>
            <a:off x="7406640" y="3108960"/>
            <a:ext cx="434340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1" name="action icon bg 2"/>
          <p:cNvSpPr/>
          <p:nvPr/>
        </p:nvSpPr>
        <p:spPr>
          <a:xfrm>
            <a:off x="7589520" y="32918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action icon 2" descr="2. Maqsadli o‘qitish: 106 xodi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3410712"/>
            <a:ext cx="265176" cy="265176"/>
          </a:xfrm>
          <a:prstGeom prst="rect">
            <a:avLst/>
          </a:prstGeom>
        </p:spPr>
      </p:pic>
      <p:sp>
        <p:nvSpPr>
          <p:cNvPr id="23" name="action head 2"/>
          <p:cNvSpPr txBox="1"/>
          <p:nvPr/>
        </p:nvSpPr>
        <p:spPr>
          <a:xfrm>
            <a:off x="8275320" y="32461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2. Maqsadli o‘qitish: 106 xodim</a:t>
            </a:r>
            <a:endParaRPr lang="en-US" sz="1500" dirty="0"/>
          </a:p>
        </p:txBody>
      </p:sp>
      <p:sp>
        <p:nvSpPr>
          <p:cNvPr id="24" name="action body 2"/>
          <p:cNvSpPr txBox="1"/>
          <p:nvPr/>
        </p:nvSpPr>
        <p:spPr>
          <a:xfrm>
            <a:off x="8275320" y="3611880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Sifat 78 + Yig‘uv 28: ADM MS, yo‘qotishlar va WPO amaliyoti. 30 kundan keyin shu mezon bilan qayta baho.</a:t>
            </a:r>
            <a:endParaRPr lang="en-US" sz="1200" dirty="0"/>
          </a:p>
        </p:txBody>
      </p:sp>
      <p:sp>
        <p:nvSpPr>
          <p:cNvPr id="25" name="action card 3"/>
          <p:cNvSpPr/>
          <p:nvPr/>
        </p:nvSpPr>
        <p:spPr>
          <a:xfrm>
            <a:off x="7406640" y="4709160"/>
            <a:ext cx="434340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6" name="action icon bg 3"/>
          <p:cNvSpPr/>
          <p:nvPr/>
        </p:nvSpPr>
        <p:spPr>
          <a:xfrm>
            <a:off x="7589520" y="48920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7" name="action icon 3" descr="3. Yagona natijalar reyestr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2" y="5010912"/>
            <a:ext cx="265176" cy="265176"/>
          </a:xfrm>
          <a:prstGeom prst="rect">
            <a:avLst/>
          </a:prstGeom>
        </p:spPr>
      </p:pic>
      <p:sp>
        <p:nvSpPr>
          <p:cNvPr id="28" name="action head 3"/>
          <p:cNvSpPr txBox="1"/>
          <p:nvPr/>
        </p:nvSpPr>
        <p:spPr>
          <a:xfrm>
            <a:off x="8275320" y="48463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3. Yagona natijalar reyestri</a:t>
            </a:r>
            <a:endParaRPr lang="en-US" sz="1500" dirty="0"/>
          </a:p>
        </p:txBody>
      </p:sp>
      <p:sp>
        <p:nvSpPr>
          <p:cNvPr id="29" name="action body 3"/>
          <p:cNvSpPr txBox="1"/>
          <p:nvPr/>
        </p:nvSpPr>
        <p:spPr>
          <a:xfrm>
            <a:off x="8275320" y="5212080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Davomat, baho, OJT, sertifikat va xarajatni xodim tabeli va kursga bog‘lash (Akademiya, HR, Moliya).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M Academy">
  <a:themeElements>
    <a:clrScheme name="ADM Academy">
      <a:dk1>
        <a:srgbClr val="1A1F36"/>
      </a:dk1>
      <a:lt1>
        <a:srgbClr val="FFFFFF"/>
      </a:lt1>
      <a:dk2>
        <a:srgbClr val="14213D"/>
      </a:dk2>
      <a:lt2>
        <a:srgbClr val="EEF1F6"/>
      </a:lt2>
      <a:accent1>
        <a:srgbClr val="14213D"/>
      </a:accent1>
      <a:accent2>
        <a:srgbClr val="C8102E"/>
      </a:accent2>
      <a:accent3>
        <a:srgbClr val="5B6B8C"/>
      </a:accent3>
      <a:accent4>
        <a:srgbClr val="9AA7BF"/>
      </a:accent4>
      <a:accent5>
        <a:srgbClr val="2E7D32"/>
      </a:accent5>
      <a:accent6>
        <a:srgbClr val="F2A900"/>
      </a:accent6>
      <a:hlink>
        <a:srgbClr val="14213D"/>
      </a:hlink>
      <a:folHlink>
        <a:srgbClr val="5B6B8C"/>
      </a:folHlink>
    </a:clrScheme>
    <a:fontScheme name="ADM Academ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ADM Jizzax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oylik o‘qitish va kompetensiya natijalari</dc:title>
  <dc:subject>PptxGenJS Presentation</dc:subject>
  <dc:creator>ADM Academy</dc:creator>
  <cp:lastModifiedBy>ADM Academy</cp:lastModifiedBy>
  <cp:revision>1</cp:revision>
  <dcterms:created xsi:type="dcterms:W3CDTF">2026-10-13T12:21:09Z</dcterms:created>
  <dcterms:modified xsi:type="dcterms:W3CDTF">2026-10-13T12:21:09Z</dcterms:modified>
</cp:coreProperties>
</file>