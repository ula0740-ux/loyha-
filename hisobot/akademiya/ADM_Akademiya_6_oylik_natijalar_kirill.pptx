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Хулоса" id="{fa3056cb-9301-3c30-c53e-5dd2f123bc11}">
          <p14:sldIdLst>
            <p14:sldId id="256"/>
          </p14:sldIdLst>
        </p14:section>
        <p14:section name="Давомат" id="{15277afa-a50f-220b-74ab-5b975acfb177}">
          <p14:sldIdLst>
            <p14:sldId id="257"/>
          </p14:sldIdLst>
        </p14:section>
        <p14:section name="Компетенция ва KPI" id="{b5c55f20-c6e3-54b8-4a68-8d5cb70a1e6e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+mj-lt"/>
              </a:defRPr>
            </a:pPr>
            <a:r>
              <a:rPr sz="1400" b="1" i="0" u="none" strike="noStrike">
                <a:solidFill>
                  <a:srgbClr val="14213D"/>
                </a:solidFill>
                <a:latin typeface="+mj-lt"/>
              </a:rPr>
              <a:t>Ойда камида 1 дарсга қатнашганлар, %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Қамров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Апрель</c:v>
                  </c:pt>
                  <c:pt idx="1">
                    <c:v>Май</c:v>
                  </c:pt>
                  <c:pt idx="2">
                    <c:v>Июнь</c:v>
                  </c:pt>
                  <c:pt idx="3">
                    <c:v>Июль</c:v>
                  </c:pt>
                  <c:pt idx="4">
                    <c:v>Август</c:v>
                  </c:pt>
                  <c:pt idx="5">
                    <c:v>Сентябрь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96.6</c:v>
                </c:pt>
                <c:pt idx="1">
                  <c:v>94.7</c:v>
                </c:pt>
                <c:pt idx="2">
                  <c:v>96.7</c:v>
                </c:pt>
                <c:pt idx="3">
                  <c:v>95.3</c:v>
                </c:pt>
                <c:pt idx="4">
                  <c:v>91.2</c:v>
                </c:pt>
                <c:pt idx="5">
                  <c:v>85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DDE2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+mj-lt"/>
              </a:defRPr>
            </a:pPr>
            <a:r>
              <a:rPr sz="1400" b="1" i="0" u="none" strike="noStrike">
                <a:solidFill>
                  <a:srgbClr val="14213D"/>
                </a:solidFill>
                <a:latin typeface="+mj-lt"/>
              </a:rPr>
              <a:t>Ойда бирорта дарсга келмаган бригадирлар, нафар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Келмаганлар</c:v>
                </c:pt>
              </c:strCache>
            </c:strRef>
          </c:tx>
          <c:spPr>
            <a:solidFill>
              <a:srgbClr val="9AA7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Апрель</c:v>
                  </c:pt>
                  <c:pt idx="1">
                    <c:v>Май</c:v>
                  </c:pt>
                  <c:pt idx="2">
                    <c:v>Июнь</c:v>
                  </c:pt>
                  <c:pt idx="3">
                    <c:v>Июль</c:v>
                  </c:pt>
                  <c:pt idx="4">
                    <c:v>Август</c:v>
                  </c:pt>
                  <c:pt idx="5">
                    <c:v>Сентябрь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5</c:v>
                </c:pt>
                <c:pt idx="3">
                  <c:v>7</c:v>
                </c:pt>
                <c:pt idx="4">
                  <c:v>13</c:v>
                </c:pt>
                <c:pt idx="5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1" i="0" u="none" strike="noStrike">
                <a:solidFill>
                  <a:srgbClr val="14213D"/>
                </a:solidFill>
                <a:latin typeface="+mj-lt"/>
              </a:defRPr>
            </a:pPr>
            <a:r>
              <a:rPr sz="1400" b="1" i="0" u="none" strike="noStrike">
                <a:solidFill>
                  <a:srgbClr val="14213D"/>
                </a:solidFill>
                <a:latin typeface="+mj-lt"/>
              </a:rPr>
              <a:t>Бўлимлар: ўртача ойлик қатнашув, % (6 ой)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Қатнашув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AA7B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213D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Ускуналар</c:v>
                  </c:pt>
                  <c:pt idx="1">
                    <c:v>СКД</c:v>
                  </c:pt>
                  <c:pt idx="2">
                    <c:v>Пайвандлаш</c:v>
                  </c:pt>
                  <c:pt idx="3">
                    <c:v>Маъмурий хизмат</c:v>
                  </c:pt>
                  <c:pt idx="4">
                    <c:v>Таъминот</c:v>
                  </c:pt>
                  <c:pt idx="5">
                    <c:v>Йиғув</c:v>
                  </c:pt>
                  <c:pt idx="6">
                    <c:v>Сифат назорати</c:v>
                  </c:pt>
                  <c:pt idx="7">
                    <c:v>Бўёқлаш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66.7</c:v>
                </c:pt>
                <c:pt idx="1">
                  <c:v>89.4</c:v>
                </c:pt>
                <c:pt idx="2">
                  <c:v>91</c:v>
                </c:pt>
                <c:pt idx="3">
                  <c:v>91.7</c:v>
                </c:pt>
                <c:pt idx="4">
                  <c:v>94.3</c:v>
                </c:pt>
                <c:pt idx="5">
                  <c:v>94.3</c:v>
                </c:pt>
                <c:pt idx="6">
                  <c:v>95.5</c:v>
                </c:pt>
                <c:pt idx="7">
                  <c:v>97.7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94,5% — олти ойда камида бир марта қатнашиш, курс тугатиш эмас. Сентябрдаги бригадир давомат индикатори 73,9% (режа 90%дан юқори). Паст натижаларнинг 72,2%и Сифат йўналишида. 70% — таҳлилий чегара, расмий аттестация мезони эмас. Чоралар — таҳлилий таклиф, тасдиқланган топшириқ эмас.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Июндан сентябргача қамров 11,7 фоиз пунктга камайди (96,7% → 85,0%). Ускуналар гуруҳида 3 бригадир: Ш. Икрамовнинг июль ва августдаги қатнашуви йўқ. Раҳбарлар учун 45,7% — қайд улуши, ўқув режасини бажариш фоизи эмас.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73,9% — сентябрдаги бригадир дарс қайди улуши (339/459), 90% мезондан 16,1 ф.п. паст. 76,8% компетенция бали ≥85% самарадорлик KPI билан бир хил ўлчов эмас. Сифатдаги энг паст компонентлар: ADM MS 34,2%, йўқотишлар 34,2%, WPO 39,4%. 120 қолдирилган қатнашув 120 нафар ходим дегани эмас.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9966960" y="3474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ADM ACADEMY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45720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2026-йил 1-апрель – 30-сентябрь • Манба: ADM Academy ойлик давомат журналлари ва баҳолаш варақлари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 ойлик ўқитиш ва компетенция натижалари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Қамров юқори, аммо сентябрда давомат пасайди ва Сифат йўналишида компетенция паст</a:t>
            </a:r>
            <a:endParaRPr lang="en-US" sz="1500" dirty="0"/>
          </a:p>
        </p:txBody>
      </p:sp>
      <p:sp>
        <p:nvSpPr>
          <p:cNvPr id="4" name="key1 card"/>
          <p:cNvSpPr/>
          <p:nvPr/>
        </p:nvSpPr>
        <p:spPr>
          <a:xfrm>
            <a:off x="45720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5" name="key1 value"/>
          <p:cNvSpPr txBox="1"/>
          <p:nvPr/>
        </p:nvSpPr>
        <p:spPr>
          <a:xfrm>
            <a:off x="685800" y="17099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94,5%</a:t>
            </a:r>
            <a:endParaRPr lang="en-US" sz="4000" dirty="0"/>
          </a:p>
        </p:txBody>
      </p:sp>
      <p:sp>
        <p:nvSpPr>
          <p:cNvPr id="6" name="key1 label"/>
          <p:cNvSpPr txBox="1"/>
          <p:nvPr/>
        </p:nvSpPr>
        <p:spPr>
          <a:xfrm>
            <a:off x="685800" y="27628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Бригадирлар ўқитилди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165 нафардан 156 нафари камида бир марта</a:t>
            </a:r>
            <a:endParaRPr lang="en-US" sz="1400" dirty="0"/>
          </a:p>
        </p:txBody>
      </p:sp>
      <p:sp>
        <p:nvSpPr>
          <p:cNvPr id="7" name="key2 card"/>
          <p:cNvSpPr/>
          <p:nvPr/>
        </p:nvSpPr>
        <p:spPr>
          <a:xfrm>
            <a:off x="4023360" y="16002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8" name="key2 value"/>
          <p:cNvSpPr txBox="1"/>
          <p:nvPr/>
        </p:nvSpPr>
        <p:spPr>
          <a:xfrm>
            <a:off x="4251960" y="17099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23 нафар</a:t>
            </a:r>
            <a:endParaRPr lang="en-US" sz="4000" dirty="0"/>
          </a:p>
        </p:txBody>
      </p:sp>
      <p:sp>
        <p:nvSpPr>
          <p:cNvPr id="9" name="key2 label"/>
          <p:cNvSpPr txBox="1"/>
          <p:nvPr/>
        </p:nvSpPr>
        <p:spPr>
          <a:xfrm>
            <a:off x="4251960" y="27628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Сентябрда дарсга келмаган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Апрелда 5 нафар эди; қамров 85,0%гача тушди</a:t>
            </a:r>
            <a:endParaRPr lang="en-US" sz="1400" dirty="0"/>
          </a:p>
        </p:txBody>
      </p:sp>
      <p:sp>
        <p:nvSpPr>
          <p:cNvPr id="10" name="key3 card"/>
          <p:cNvSpPr/>
          <p:nvPr/>
        </p:nvSpPr>
        <p:spPr>
          <a:xfrm>
            <a:off x="457200" y="41148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1" name="key3 value"/>
          <p:cNvSpPr txBox="1"/>
          <p:nvPr/>
        </p:nvSpPr>
        <p:spPr>
          <a:xfrm>
            <a:off x="685800" y="42245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76,8%</a:t>
            </a:r>
            <a:endParaRPr lang="en-US" sz="4000" dirty="0"/>
          </a:p>
        </p:txBody>
      </p:sp>
      <p:sp>
        <p:nvSpPr>
          <p:cNvPr id="12" name="key3 label"/>
          <p:cNvSpPr txBox="1"/>
          <p:nvPr/>
        </p:nvSpPr>
        <p:spPr>
          <a:xfrm>
            <a:off x="685800" y="52774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Ўртача компетенция бали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341 ходим баҳоланди (585 балл максимум)</a:t>
            </a:r>
            <a:endParaRPr lang="en-US" sz="1400" dirty="0"/>
          </a:p>
        </p:txBody>
      </p:sp>
      <p:sp>
        <p:nvSpPr>
          <p:cNvPr id="13" name="key4 card"/>
          <p:cNvSpPr/>
          <p:nvPr/>
        </p:nvSpPr>
        <p:spPr>
          <a:xfrm>
            <a:off x="4023360" y="4114800"/>
            <a:ext cx="329184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14" name="key4 value"/>
          <p:cNvSpPr txBox="1"/>
          <p:nvPr/>
        </p:nvSpPr>
        <p:spPr>
          <a:xfrm>
            <a:off x="4251960" y="4224528"/>
            <a:ext cx="2834640" cy="10081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108 нафар</a:t>
            </a:r>
            <a:endParaRPr lang="en-US" sz="4000" dirty="0"/>
          </a:p>
        </p:txBody>
      </p:sp>
      <p:sp>
        <p:nvSpPr>
          <p:cNvPr id="15" name="key4 label"/>
          <p:cNvSpPr txBox="1"/>
          <p:nvPr/>
        </p:nvSpPr>
        <p:spPr>
          <a:xfrm>
            <a:off x="4251960" y="5277460"/>
            <a:ext cx="2834640" cy="915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70%дан паст натижа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Сифат 78, Йиғув 28 нафар</a:t>
            </a:r>
            <a:endParaRPr lang="en-US" sz="1400" dirty="0"/>
          </a:p>
        </p:txBody>
      </p:sp>
      <p:sp>
        <p:nvSpPr>
          <p:cNvPr id="16" name="decisions panel"/>
          <p:cNvSpPr/>
          <p:nvPr/>
        </p:nvSpPr>
        <p:spPr>
          <a:xfrm>
            <a:off x="7635240" y="1600200"/>
            <a:ext cx="4114800" cy="4754880"/>
          </a:xfrm>
          <a:prstGeom prst="roundRect">
            <a:avLst>
              <a:gd name="adj" fmla="val 1778"/>
            </a:avLst>
          </a:prstGeom>
          <a:solidFill>
            <a:schemeClr val="tx2"/>
          </a:solidFill>
          <a:ln/>
        </p:spPr>
      </p:sp>
      <p:sp>
        <p:nvSpPr>
          <p:cNvPr id="17" name="decisions head"/>
          <p:cNvSpPr txBox="1"/>
          <p:nvPr/>
        </p:nvSpPr>
        <p:spPr>
          <a:xfrm>
            <a:off x="790956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Раҳбарият қарори учун</a:t>
            </a:r>
            <a:endParaRPr lang="en-US" sz="1800" dirty="0"/>
          </a:p>
        </p:txBody>
      </p:sp>
      <p:sp>
        <p:nvSpPr>
          <p:cNvPr id="18" name="decision icon bg 1"/>
          <p:cNvSpPr/>
          <p:nvPr/>
        </p:nvSpPr>
        <p:spPr>
          <a:xfrm>
            <a:off x="7909560" y="2377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decision icon 1" descr="Давоматни тикла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9288" y="2487168"/>
            <a:ext cx="237744" cy="237744"/>
          </a:xfrm>
          <a:prstGeom prst="rect">
            <a:avLst/>
          </a:prstGeom>
        </p:spPr>
      </p:pic>
      <p:sp>
        <p:nvSpPr>
          <p:cNvPr id="20" name="decision text 1"/>
          <p:cNvSpPr txBox="1"/>
          <p:nvPr/>
        </p:nvSpPr>
        <p:spPr>
          <a:xfrm>
            <a:off x="854964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Давоматни тиклаш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Таътил ва сменага мос қўшимча дарслар. Пайвандлаш (7) ва Таъминот (5) биринчи навбатда.</a:t>
            </a:r>
            <a:endParaRPr lang="en-US" sz="1500" dirty="0"/>
          </a:p>
        </p:txBody>
      </p:sp>
      <p:sp>
        <p:nvSpPr>
          <p:cNvPr id="21" name="decision icon bg 2"/>
          <p:cNvSpPr/>
          <p:nvPr/>
        </p:nvSpPr>
        <p:spPr>
          <a:xfrm>
            <a:off x="7909560" y="36576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decision icon 2" descr="106 ходимни қайта ўқити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3767328"/>
            <a:ext cx="237744" cy="237744"/>
          </a:xfrm>
          <a:prstGeom prst="rect">
            <a:avLst/>
          </a:prstGeom>
        </p:spPr>
      </p:pic>
      <p:sp>
        <p:nvSpPr>
          <p:cNvPr id="23" name="decision text 2"/>
          <p:cNvSpPr txBox="1"/>
          <p:nvPr/>
        </p:nvSpPr>
        <p:spPr>
          <a:xfrm>
            <a:off x="8549640" y="36118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106 ходимни қайта ўқитиш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Сифат 78 + Йиғув 28: ADM MS, йўқотишлар, WPO. 30 кунда қайта баҳо.</a:t>
            </a:r>
            <a:endParaRPr lang="en-US" sz="1500" dirty="0"/>
          </a:p>
        </p:txBody>
      </p:sp>
      <p:sp>
        <p:nvSpPr>
          <p:cNvPr id="24" name="decision icon bg 3"/>
          <p:cNvSpPr/>
          <p:nvPr/>
        </p:nvSpPr>
        <p:spPr>
          <a:xfrm>
            <a:off x="7909560" y="49377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decision icon 3" descr="Ягона натижалар реестри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88" y="5047488"/>
            <a:ext cx="237744" cy="237744"/>
          </a:xfrm>
          <a:prstGeom prst="rect">
            <a:avLst/>
          </a:prstGeom>
        </p:spPr>
      </p:pic>
      <p:sp>
        <p:nvSpPr>
          <p:cNvPr id="26" name="decision text 3"/>
          <p:cNvSpPr txBox="1"/>
          <p:nvPr/>
        </p:nvSpPr>
        <p:spPr>
          <a:xfrm>
            <a:off x="854964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Ягона натижалар реестри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Давомат, баҳо, OJT, сертификат ва харажат битта тизимда (Академия, HR, Молия).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Давомат сентябрда пасайди, энг пасти Ускуналарда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Бригадирлар: 2 865 қатнашув · раҳбарлар: 455 имкониятдан 208 қайд (45,7%)</a:t>
            </a:r>
            <a:endParaRPr lang="en-US" sz="1500" dirty="0"/>
          </a:p>
        </p:txBody>
      </p:sp>
      <p:graphicFrame>
        <p:nvGraphicFramePr>
          <p:cNvPr id="4" name="coverage chart" descr=""/>
          <p:cNvGraphicFramePr/>
          <p:nvPr/>
        </p:nvGraphicFramePr>
        <p:xfrm>
          <a:off x="457200" y="146304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absent chart" descr=""/>
          <p:cNvGraphicFramePr/>
          <p:nvPr/>
        </p:nvGraphicFramePr>
        <p:xfrm>
          <a:off x="457200" y="3931920"/>
          <a:ext cx="55321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dept chart" descr=""/>
          <p:cNvGraphicFramePr/>
          <p:nvPr/>
        </p:nvGraphicFramePr>
        <p:xfrm>
          <a:off x="6217920" y="1463040"/>
          <a:ext cx="5532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dept note"/>
          <p:cNvSpPr txBox="1"/>
          <p:nvPr/>
        </p:nvSpPr>
        <p:spPr>
          <a:xfrm>
            <a:off x="6217920" y="58064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Сентябрда келмаган 23 нафар: Пайвандлаш 7, Таъминот 5, Сифат 3, Маъмурий хизмат 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Компетенция ва KPI: Сифат йўналиши устувор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341 ходимнинг баҳолаш натижалари ва сентябрь KPI тафовутлари</a:t>
            </a:r>
            <a:endParaRPr lang="en-US" sz="1500" dirty="0"/>
          </a:p>
        </p:txBody>
      </p:sp>
      <p:graphicFrame>
        <p:nvGraphicFramePr>
          <p:cNvPr id="4" name="competenc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532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097280"/>
                <a:gridCol w="118872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Йўналиш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Ходим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Ўртача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70%дан паст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Сифат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Йиғув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Бўёқлаш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Таъмирлаш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Ускуналар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avg card"/>
          <p:cNvSpPr/>
          <p:nvPr/>
        </p:nvSpPr>
        <p:spPr>
          <a:xfrm>
            <a:off x="457200" y="443484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6" name="avg value"/>
          <p:cNvSpPr txBox="1"/>
          <p:nvPr/>
        </p:nvSpPr>
        <p:spPr>
          <a:xfrm>
            <a:off x="685800" y="4544568"/>
            <a:ext cx="21945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76,8%</a:t>
            </a:r>
            <a:endParaRPr lang="en-US" sz="3200" dirty="0"/>
          </a:p>
        </p:txBody>
      </p:sp>
      <p:sp>
        <p:nvSpPr>
          <p:cNvPr id="7" name="avg label"/>
          <p:cNvSpPr txBox="1"/>
          <p:nvPr/>
        </p:nvSpPr>
        <p:spPr>
          <a:xfrm>
            <a:off x="685800" y="5210708"/>
            <a:ext cx="2194560" cy="5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Ўртача балл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585 максимал баллга нисбатан</a:t>
            </a:r>
            <a:endParaRPr lang="en-US" sz="1400" dirty="0"/>
          </a:p>
        </p:txBody>
      </p:sp>
      <p:sp>
        <p:nvSpPr>
          <p:cNvPr id="8" name="low card"/>
          <p:cNvSpPr/>
          <p:nvPr/>
        </p:nvSpPr>
        <p:spPr>
          <a:xfrm>
            <a:off x="3337560" y="4434840"/>
            <a:ext cx="26517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9" name="low value"/>
          <p:cNvSpPr txBox="1"/>
          <p:nvPr/>
        </p:nvSpPr>
        <p:spPr>
          <a:xfrm>
            <a:off x="3566160" y="4544568"/>
            <a:ext cx="219456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108 нафар</a:t>
            </a:r>
            <a:endParaRPr lang="en-US" sz="3200" dirty="0"/>
          </a:p>
        </p:txBody>
      </p:sp>
      <p:sp>
        <p:nvSpPr>
          <p:cNvPr id="10" name="low label"/>
          <p:cNvSpPr txBox="1"/>
          <p:nvPr/>
        </p:nvSpPr>
        <p:spPr>
          <a:xfrm>
            <a:off x="3566160" y="5210708"/>
            <a:ext cx="2194560" cy="52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70%дан паст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Уларнинг 72,2%и Сифатда</a:t>
            </a:r>
            <a:endParaRPr lang="en-US" sz="1400" dirty="0"/>
          </a:p>
        </p:txBody>
      </p:sp>
      <p:sp>
        <p:nvSpPr>
          <p:cNvPr id="11" name="competency note"/>
          <p:cNvSpPr txBox="1"/>
          <p:nvPr/>
        </p:nvSpPr>
        <p:spPr>
          <a:xfrm>
            <a:off x="457200" y="594360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70% — таҳлилий чегара, расмий аттестация мезони эмас.</a:t>
            </a:r>
            <a:endParaRPr lang="en-US" sz="1200" dirty="0"/>
          </a:p>
        </p:txBody>
      </p:sp>
      <p:graphicFrame>
        <p:nvGraphicFramePr>
          <p:cNvPr id="7" name="kpi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08760"/>
          <a:ext cx="5532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1430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Кўрсаткич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Ҳолат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Бригадир давомати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73,9% (−16,1 ф.п.)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Дарс баҳоси / самарадорлик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/ ≥85%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Якун аниқланмади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 MS дарси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та/ой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Ижро реестри керак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PowerPoint машғулоти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та/ой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Якун тасдиғи керак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таҳлил тизими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Ишга туширилмаган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даражали BPD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Ижро тасдиқланмаган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reasons head"/>
          <p:cNvSpPr txBox="1"/>
          <p:nvPr/>
        </p:nvSpPr>
        <p:spPr>
          <a:xfrm>
            <a:off x="6217920" y="443484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Сентябрь: 120 та қолдирилган қатнашув сабаби</a:t>
            </a:r>
            <a:endParaRPr lang="en-US" sz="1500" dirty="0"/>
          </a:p>
        </p:txBody>
      </p:sp>
      <p:sp>
        <p:nvSpPr>
          <p:cNvPr id="14" name="reason card 1"/>
          <p:cNvSpPr/>
          <p:nvPr/>
        </p:nvSpPr>
        <p:spPr>
          <a:xfrm>
            <a:off x="6217920" y="4846320"/>
            <a:ext cx="174650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5" name="reason value 1"/>
          <p:cNvSpPr txBox="1"/>
          <p:nvPr/>
        </p:nvSpPr>
        <p:spPr>
          <a:xfrm>
            <a:off x="6400800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67</a:t>
            </a:r>
            <a:endParaRPr lang="en-US" sz="3400" dirty="0"/>
          </a:p>
        </p:txBody>
      </p:sp>
      <p:sp>
        <p:nvSpPr>
          <p:cNvPr id="16" name="reason label 1"/>
          <p:cNvSpPr txBox="1"/>
          <p:nvPr/>
        </p:nvSpPr>
        <p:spPr>
          <a:xfrm>
            <a:off x="6400800" y="5687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Таътил</a:t>
            </a:r>
            <a:endParaRPr lang="en-US" sz="1300" dirty="0"/>
          </a:p>
        </p:txBody>
      </p:sp>
      <p:sp>
        <p:nvSpPr>
          <p:cNvPr id="17" name="reason card 2"/>
          <p:cNvSpPr/>
          <p:nvPr/>
        </p:nvSpPr>
        <p:spPr>
          <a:xfrm>
            <a:off x="8110728" y="4846320"/>
            <a:ext cx="174650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8" name="reason value 2"/>
          <p:cNvSpPr txBox="1"/>
          <p:nvPr/>
        </p:nvSpPr>
        <p:spPr>
          <a:xfrm>
            <a:off x="8293608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29</a:t>
            </a:r>
            <a:endParaRPr lang="en-US" sz="3400" dirty="0"/>
          </a:p>
        </p:txBody>
      </p:sp>
      <p:sp>
        <p:nvSpPr>
          <p:cNvPr id="19" name="reason label 2"/>
          <p:cNvSpPr txBox="1"/>
          <p:nvPr/>
        </p:nvSpPr>
        <p:spPr>
          <a:xfrm>
            <a:off x="8293608" y="5687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Қатнашмаган</a:t>
            </a:r>
            <a:endParaRPr lang="en-US" sz="1300" dirty="0"/>
          </a:p>
        </p:txBody>
      </p:sp>
      <p:sp>
        <p:nvSpPr>
          <p:cNvPr id="20" name="reason card 3"/>
          <p:cNvSpPr/>
          <p:nvPr/>
        </p:nvSpPr>
        <p:spPr>
          <a:xfrm>
            <a:off x="10003536" y="4846320"/>
            <a:ext cx="174650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1" name="reason value 3"/>
          <p:cNvSpPr txBox="1"/>
          <p:nvPr/>
        </p:nvSpPr>
        <p:spPr>
          <a:xfrm>
            <a:off x="10186416" y="49194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24</a:t>
            </a:r>
            <a:endParaRPr lang="en-US" sz="3400" dirty="0"/>
          </a:p>
        </p:txBody>
      </p:sp>
      <p:sp>
        <p:nvSpPr>
          <p:cNvPr id="22" name="reason label 3"/>
          <p:cNvSpPr txBox="1"/>
          <p:nvPr/>
        </p:nvSpPr>
        <p:spPr>
          <a:xfrm>
            <a:off x="10186416" y="56875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Сабаби ёзилмаган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M Academy">
  <a:themeElements>
    <a:clrScheme name="ADM Academy">
      <a:dk1>
        <a:srgbClr val="1A1F36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C8102E"/>
      </a:accent2>
      <a:accent3>
        <a:srgbClr val="5B6B8C"/>
      </a:accent3>
      <a:accent4>
        <a:srgbClr val="9AA7BF"/>
      </a:accent4>
      <a:accent5>
        <a:srgbClr val="2E7D32"/>
      </a:accent5>
      <a:accent6>
        <a:srgbClr val="F2A900"/>
      </a:accent6>
      <a:hlink>
        <a:srgbClr val="14213D"/>
      </a:hlink>
      <a:folHlink>
        <a:srgbClr val="5B6B8C"/>
      </a:folHlink>
    </a:clrScheme>
    <a:fontScheme name="ADM Academ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ADM Jizzax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ойлик ўқитиш ва компетенция натижалари</dc:title>
  <dc:subject>PptxGenJS Presentation</dc:subject>
  <dc:creator>ADM Academy</dc:creator>
  <cp:lastModifiedBy>ADM Academy</cp:lastModifiedBy>
  <cp:revision>1</cp:revision>
  <dcterms:created xsi:type="dcterms:W3CDTF">2026-10-13T12:25:26Z</dcterms:created>
  <dcterms:modified xsi:type="dcterms:W3CDTF">2026-10-13T12:25:26Z</dcterms:modified>
</cp:coreProperties>
</file>